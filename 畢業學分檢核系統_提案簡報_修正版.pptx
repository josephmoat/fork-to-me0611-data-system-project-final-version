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194" y="7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國立政治大學  ·  資訊科學系  ·  資料庫管理(SQL)期末專題  ·  2026 春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31520" y="71323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E75B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 I N A L   P R O J E C T   P R O P O S A 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31520" y="1005840"/>
            <a:ext cx="106984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畢業學分檢核系統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31520" y="1874519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Graduation Credit Verification System — 學生端自助式畢業進度查詢與規劃工具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31520" y="2606040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系  統  定  位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31520" y="2898648"/>
            <a:ext cx="521208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本系統為一套 Web-based 畢業學分檢核工具,提供學生端介面查詢個人修課紀錄、即時計算各類學分達成度,並依入學年度對應之畢業規則自動判定畢業條件。另規劃補修課程推薦與教室走動預警兩項擴充功能,於核心完成後視時間餘裕實作。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31520" y="4114800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  標  使  用  者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731520" y="4480560"/>
            <a:ext cx="54864" cy="5486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877824" y="4389120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在學學生:自助查詢畢業進度與選課決策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731520" y="4754880"/>
            <a:ext cx="54864" cy="5486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877824" y="4663440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(範圍外:導師、系辦行政人員)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31520" y="5074920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核  心  研  究  問  題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731520" y="5440680"/>
            <a:ext cx="54864" cy="5486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877824" y="5349240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畢業規則如何被結構化為可被 SQL 自動判定的資料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731520" y="5715000"/>
            <a:ext cx="54864" cy="5486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877824" y="5623560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新舊入學年度規則並存之版本化資料表設計</a:t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731520" y="5989320"/>
            <a:ext cx="54864" cy="5486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877824" y="5897880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課程類別二階分類(main_type / sub_type)對應規則檢核</a:t>
            </a:r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6400800" y="2606040"/>
            <a:ext cx="5212080" cy="1280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6400800" y="2606040"/>
            <a:ext cx="45720" cy="128016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6583680" y="269748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F8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  題  情  境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6583680" y="2990088"/>
            <a:ext cx="49377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學生欲確認自身畢業進度,須查閱系所修業規定 PDF、比對個人修課紀錄、人工加總各類別學分,過程繁瑣且容易誤判。系統化自助檢核工具可降低查詢成本、避免漏修必修,並輔助學期選課決策。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6400800" y="4069080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功  能  規  劃</a:t>
            </a:r>
            <a:endParaRPr/>
          </a:p>
        </p:txBody>
      </p:sp>
      <p:sp>
        <p:nvSpPr>
          <p:cNvPr id="108" name="Google Shape;108;p13"/>
          <p:cNvSpPr/>
          <p:nvPr/>
        </p:nvSpPr>
        <p:spPr>
          <a:xfrm>
            <a:off x="6419088" y="4361688"/>
            <a:ext cx="420624" cy="256032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F1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6922008" y="43891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登入(學號)</a:t>
            </a:r>
            <a:endParaRPr/>
          </a:p>
        </p:txBody>
      </p:sp>
      <p:sp>
        <p:nvSpPr>
          <p:cNvPr id="110" name="Google Shape;110;p13"/>
          <p:cNvSpPr/>
          <p:nvPr/>
        </p:nvSpPr>
        <p:spPr>
          <a:xfrm>
            <a:off x="9025128" y="4361688"/>
            <a:ext cx="420624" cy="256032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F2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9528048" y="43891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上傳修課紀錄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6419088" y="4709160"/>
            <a:ext cx="420624" cy="256032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F3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6922008" y="473659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修課紀錄查詢</a:t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9025128" y="4709160"/>
            <a:ext cx="420624" cy="256032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F4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9528048" y="473659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畢業檢核明細</a:t>
            </a:r>
            <a:endParaRPr/>
          </a:p>
        </p:txBody>
      </p:sp>
      <p:sp>
        <p:nvSpPr>
          <p:cNvPr id="116" name="Google Shape;116;p13"/>
          <p:cNvSpPr/>
          <p:nvPr/>
        </p:nvSpPr>
        <p:spPr>
          <a:xfrm>
            <a:off x="6419088" y="5056632"/>
            <a:ext cx="420624" cy="256032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F5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6922008" y="508406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畢業進度總覽</a:t>
            </a:r>
            <a:endParaRPr/>
          </a:p>
        </p:txBody>
      </p:sp>
      <p:sp>
        <p:nvSpPr>
          <p:cNvPr id="118" name="Google Shape;118;p13"/>
          <p:cNvSpPr/>
          <p:nvPr/>
        </p:nvSpPr>
        <p:spPr>
          <a:xfrm>
            <a:off x="6400800" y="5458968"/>
            <a:ext cx="5212080" cy="18288"/>
          </a:xfrm>
          <a:prstGeom prst="rect">
            <a:avLst/>
          </a:prstGeom>
          <a:solidFill>
            <a:srgbClr val="E3EAF3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6400800" y="5550408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F8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擴  充  規  劃 (時間允許實作)</a:t>
            </a:r>
            <a:endParaRPr/>
          </a:p>
        </p:txBody>
      </p:sp>
      <p:sp>
        <p:nvSpPr>
          <p:cNvPr id="120" name="Google Shape;120;p13"/>
          <p:cNvSpPr/>
          <p:nvPr/>
        </p:nvSpPr>
        <p:spPr>
          <a:xfrm>
            <a:off x="6419088" y="5843016"/>
            <a:ext cx="420624" cy="256032"/>
          </a:xfrm>
          <a:prstGeom prst="roundRect">
            <a:avLst>
              <a:gd name="adj" fmla="val 30000"/>
            </a:avLst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F6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6922008" y="587044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F8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補修課程推薦</a:t>
            </a:r>
            <a:endParaRPr/>
          </a:p>
        </p:txBody>
      </p:sp>
      <p:sp>
        <p:nvSpPr>
          <p:cNvPr id="122" name="Google Shape;122;p13"/>
          <p:cNvSpPr/>
          <p:nvPr/>
        </p:nvSpPr>
        <p:spPr>
          <a:xfrm>
            <a:off x="9025128" y="5843016"/>
            <a:ext cx="420624" cy="256032"/>
          </a:xfrm>
          <a:prstGeom prst="roundRect">
            <a:avLst>
              <a:gd name="adj" fmla="val 30000"/>
            </a:avLst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F7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9528048" y="587044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F8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教室走動預警</a:t>
            </a:r>
            <a:endParaRPr/>
          </a:p>
        </p:txBody>
      </p:sp>
      <p:sp>
        <p:nvSpPr>
          <p:cNvPr id="124" name="Google Shape;124;p13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3EAF3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731520" y="6355080"/>
            <a:ext cx="1417320" cy="256032"/>
          </a:xfrm>
          <a:prstGeom prst="roundRect">
            <a:avLst>
              <a:gd name="adj" fmla="val 40000"/>
            </a:avLst>
          </a:prstGeom>
          <a:solidFill>
            <a:srgbClr val="F0F2F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單一系所(資科系)</a:t>
            </a: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2240280" y="6355080"/>
            <a:ext cx="731520" cy="256032"/>
          </a:xfrm>
          <a:prstGeom prst="roundRect">
            <a:avLst>
              <a:gd name="adj" fmla="val 40000"/>
            </a:avLst>
          </a:prstGeom>
          <a:solidFill>
            <a:srgbClr val="F0F2F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僅學生端</a:t>
            </a: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3063240" y="6355080"/>
            <a:ext cx="868680" cy="256032"/>
          </a:xfrm>
          <a:prstGeom prst="roundRect">
            <a:avLst>
              <a:gd name="adj" fmla="val 40000"/>
            </a:avLst>
          </a:prstGeom>
          <a:solidFill>
            <a:srgbClr val="F0F2F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無管理後台</a:t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4023360" y="6355080"/>
            <a:ext cx="1691640" cy="256032"/>
          </a:xfrm>
          <a:prstGeom prst="roundRect">
            <a:avLst>
              <a:gd name="adj" fmla="val 40000"/>
            </a:avLst>
          </a:prstGeom>
          <a:solidFill>
            <a:srgbClr val="F0F2F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地端 docker-compose</a:t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5806440" y="6355080"/>
            <a:ext cx="960120" cy="256032"/>
          </a:xfrm>
          <a:prstGeom prst="roundRect">
            <a:avLst>
              <a:gd name="adj" fmla="val 40000"/>
            </a:avLst>
          </a:prstGeom>
          <a:solidFill>
            <a:srgbClr val="F0F2F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輔助開發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10515600" y="639165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 / 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系統架構與技術選型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Three-tier Architecture · Containerized On-Premise Deployment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10698480" y="4114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 / 10</a:t>
            </a:r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0" y="1325880"/>
            <a:ext cx="12191695" cy="18288"/>
          </a:xfrm>
          <a:prstGeom prst="rect">
            <a:avLst/>
          </a:prstGeom>
          <a:solidFill>
            <a:srgbClr val="E3EAF3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  E  C  H    S  T  A  C  K</a:t>
            </a: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548640" y="1920240"/>
            <a:ext cx="384048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640080" y="199339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層級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1280160" y="199339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技術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2560320" y="19933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說明</a:t>
            </a:r>
            <a:endParaRPr/>
          </a:p>
        </p:txBody>
      </p:sp>
      <p:sp>
        <p:nvSpPr>
          <p:cNvPr id="144" name="Google Shape;144;p14"/>
          <p:cNvSpPr/>
          <p:nvPr/>
        </p:nvSpPr>
        <p:spPr>
          <a:xfrm>
            <a:off x="548640" y="2286000"/>
            <a:ext cx="384048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621792" y="23774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前端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1234440" y="23774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React 18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2514600" y="23774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Vite · TypeScript · Tailwind</a:t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>
            <a:off x="548640" y="2651760"/>
            <a:ext cx="3840480" cy="365760"/>
          </a:xfrm>
          <a:prstGeom prst="rect">
            <a:avLst/>
          </a:prstGeom>
          <a:solidFill>
            <a:srgbClr val="F8F9FB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621792" y="27432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後端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1234440" y="274320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FastAPI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2514600" y="27432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Python 3.11 · Pydantic v2</a:t>
            </a:r>
            <a:endParaRPr/>
          </a:p>
        </p:txBody>
      </p:sp>
      <p:sp>
        <p:nvSpPr>
          <p:cNvPr id="152" name="Google Shape;152;p14"/>
          <p:cNvSpPr/>
          <p:nvPr/>
        </p:nvSpPr>
        <p:spPr>
          <a:xfrm>
            <a:off x="548640" y="3017520"/>
            <a:ext cx="384048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621792" y="31089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ORM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1234440" y="310896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SQLAlchemy 2.0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2514600" y="3108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含 Alembic migration</a:t>
            </a:r>
            <a:endParaRPr/>
          </a:p>
        </p:txBody>
      </p:sp>
      <p:sp>
        <p:nvSpPr>
          <p:cNvPr id="156" name="Google Shape;156;p14"/>
          <p:cNvSpPr/>
          <p:nvPr/>
        </p:nvSpPr>
        <p:spPr>
          <a:xfrm>
            <a:off x="548640" y="3383280"/>
            <a:ext cx="3840480" cy="365760"/>
          </a:xfrm>
          <a:prstGeom prst="rect">
            <a:avLst/>
          </a:prstGeom>
          <a:solidFill>
            <a:srgbClr val="F8F9FB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621792" y="34747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資料庫</a:t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1234440" y="34747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MySQL 8</a:t>
            </a:r>
            <a:endParaRPr/>
          </a:p>
        </p:txBody>
      </p:sp>
      <p:sp>
        <p:nvSpPr>
          <p:cNvPr id="159" name="Google Shape;159;p14"/>
          <p:cNvSpPr txBox="1"/>
          <p:nvPr/>
        </p:nvSpPr>
        <p:spPr>
          <a:xfrm>
            <a:off x="2514600" y="34747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關聯式資料庫</a:t>
            </a:r>
            <a:endParaRPr/>
          </a:p>
        </p:txBody>
      </p:sp>
      <p:sp>
        <p:nvSpPr>
          <p:cNvPr id="160" name="Google Shape;160;p14"/>
          <p:cNvSpPr/>
          <p:nvPr/>
        </p:nvSpPr>
        <p:spPr>
          <a:xfrm>
            <a:off x="548640" y="3749040"/>
            <a:ext cx="384048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621792" y="38404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容器化</a:t>
            </a:r>
            <a:endParaRPr/>
          </a:p>
        </p:txBody>
      </p:sp>
      <p:sp>
        <p:nvSpPr>
          <p:cNvPr id="162" name="Google Shape;162;p14"/>
          <p:cNvSpPr txBox="1"/>
          <p:nvPr/>
        </p:nvSpPr>
        <p:spPr>
          <a:xfrm>
            <a:off x="1234440" y="384048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docker-compose</a:t>
            </a:r>
            <a:endParaRPr/>
          </a:p>
        </p:txBody>
      </p:sp>
      <p:sp>
        <p:nvSpPr>
          <p:cNvPr id="163" name="Google Shape;163;p14"/>
          <p:cNvSpPr txBox="1"/>
          <p:nvPr/>
        </p:nvSpPr>
        <p:spPr>
          <a:xfrm>
            <a:off x="2514600" y="38404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frontend / backend / </a:t>
            </a:r>
            <a:r>
              <a:rPr lang="en-US" sz="1000" b="0" i="0" u="none" strike="noStrike" cap="none" dirty="0" err="1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db</a:t>
            </a:r>
            <a:endParaRPr dirty="0"/>
          </a:p>
        </p:txBody>
      </p:sp>
      <p:sp>
        <p:nvSpPr>
          <p:cNvPr id="164" name="Google Shape;164;p14"/>
          <p:cNvSpPr/>
          <p:nvPr/>
        </p:nvSpPr>
        <p:spPr>
          <a:xfrm>
            <a:off x="548640" y="4114800"/>
            <a:ext cx="3840480" cy="365760"/>
          </a:xfrm>
          <a:prstGeom prst="rect">
            <a:avLst/>
          </a:prstGeom>
          <a:solidFill>
            <a:srgbClr val="F8F9FB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621792" y="4206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壓測</a:t>
            </a:r>
            <a:endParaRPr/>
          </a:p>
        </p:txBody>
      </p:sp>
      <p:sp>
        <p:nvSpPr>
          <p:cNvPr id="166" name="Google Shape;166;p14"/>
          <p:cNvSpPr txBox="1"/>
          <p:nvPr/>
        </p:nvSpPr>
        <p:spPr>
          <a:xfrm>
            <a:off x="1234440" y="4206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K6</a:t>
            </a:r>
            <a:endParaRPr/>
          </a:p>
        </p:txBody>
      </p:sp>
      <p:sp>
        <p:nvSpPr>
          <p:cNvPr id="167" name="Google Shape;167;p14"/>
          <p:cNvSpPr txBox="1"/>
          <p:nvPr/>
        </p:nvSpPr>
        <p:spPr>
          <a:xfrm>
            <a:off x="2514600" y="42062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HTTP endpoint · JS 腳本</a:t>
            </a:r>
            <a:endParaRPr/>
          </a:p>
        </p:txBody>
      </p:sp>
      <p:sp>
        <p:nvSpPr>
          <p:cNvPr id="168" name="Google Shape;168;p14"/>
          <p:cNvSpPr/>
          <p:nvPr/>
        </p:nvSpPr>
        <p:spPr>
          <a:xfrm>
            <a:off x="548640" y="4480560"/>
            <a:ext cx="384048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 txBox="1"/>
          <p:nvPr/>
        </p:nvSpPr>
        <p:spPr>
          <a:xfrm>
            <a:off x="621792" y="45720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版控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1234440" y="457200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Git + GitHub</a:t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2514600" y="4572000"/>
            <a:ext cx="18288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提交github 連結</a:t>
            </a:r>
            <a:endParaRPr sz="1000">
              <a:solidFill>
                <a:srgbClr val="404E5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4572000" y="1600200"/>
            <a:ext cx="71624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 S E R   F L O W   ( 學  生  端  主  要  流  程 )</a:t>
            </a:r>
            <a:endParaRPr/>
          </a:p>
        </p:txBody>
      </p:sp>
      <p:sp>
        <p:nvSpPr>
          <p:cNvPr id="173" name="Google Shape;173;p14"/>
          <p:cNvSpPr/>
          <p:nvPr/>
        </p:nvSpPr>
        <p:spPr>
          <a:xfrm>
            <a:off x="4572000" y="1920240"/>
            <a:ext cx="7162495" cy="4114800"/>
          </a:xfrm>
          <a:prstGeom prst="rect">
            <a:avLst/>
          </a:prstGeom>
          <a:solidFill>
            <a:srgbClr val="F8F9FB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4"/>
          <p:cNvSpPr/>
          <p:nvPr/>
        </p:nvSpPr>
        <p:spPr>
          <a:xfrm>
            <a:off x="5532120" y="2057400"/>
            <a:ext cx="1991258" cy="3657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階段 1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登入</a:t>
            </a:r>
            <a:endParaRPr/>
          </a:p>
        </p:txBody>
      </p:sp>
      <p:sp>
        <p:nvSpPr>
          <p:cNvPr id="175" name="Google Shape;175;p14"/>
          <p:cNvSpPr/>
          <p:nvPr/>
        </p:nvSpPr>
        <p:spPr>
          <a:xfrm>
            <a:off x="7569098" y="2057400"/>
            <a:ext cx="1991258" cy="3657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階段 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上傳 + 檢核</a:t>
            </a:r>
            <a:endParaRPr/>
          </a:p>
        </p:txBody>
      </p:sp>
      <p:sp>
        <p:nvSpPr>
          <p:cNvPr id="176" name="Google Shape;176;p14"/>
          <p:cNvSpPr/>
          <p:nvPr/>
        </p:nvSpPr>
        <p:spPr>
          <a:xfrm>
            <a:off x="9606076" y="2057400"/>
            <a:ext cx="1991258" cy="3657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階段 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顯示進度</a:t>
            </a:r>
            <a:endParaRPr/>
          </a:p>
        </p:txBody>
      </p:sp>
      <p:sp>
        <p:nvSpPr>
          <p:cNvPr id="177" name="Google Shape;177;p14"/>
          <p:cNvSpPr/>
          <p:nvPr/>
        </p:nvSpPr>
        <p:spPr>
          <a:xfrm>
            <a:off x="4663440" y="2514600"/>
            <a:ext cx="777240" cy="713232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使用者</a:t>
            </a:r>
            <a:endParaRPr/>
          </a:p>
        </p:txBody>
      </p:sp>
      <p:sp>
        <p:nvSpPr>
          <p:cNvPr id="178" name="Google Shape;178;p14"/>
          <p:cNvSpPr/>
          <p:nvPr/>
        </p:nvSpPr>
        <p:spPr>
          <a:xfrm>
            <a:off x="5532120" y="2514600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輸入學號 + 密碼</a:t>
            </a:r>
            <a:endParaRPr/>
          </a:p>
        </p:txBody>
      </p:sp>
      <p:sp>
        <p:nvSpPr>
          <p:cNvPr id="179" name="Google Shape;179;p14"/>
          <p:cNvSpPr/>
          <p:nvPr/>
        </p:nvSpPr>
        <p:spPr>
          <a:xfrm>
            <a:off x="7569098" y="2514600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選擇並上傳 CSV</a:t>
            </a:r>
            <a:endParaRPr/>
          </a:p>
        </p:txBody>
      </p:sp>
      <p:sp>
        <p:nvSpPr>
          <p:cNvPr id="180" name="Google Shape;180;p14"/>
          <p:cNvSpPr/>
          <p:nvPr/>
        </p:nvSpPr>
        <p:spPr>
          <a:xfrm>
            <a:off x="9606076" y="2514600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檢視畢業進度與缺漏</a:t>
            </a:r>
            <a:endParaRPr/>
          </a:p>
        </p:txBody>
      </p:sp>
      <p:sp>
        <p:nvSpPr>
          <p:cNvPr id="181" name="Google Shape;181;p14"/>
          <p:cNvSpPr/>
          <p:nvPr/>
        </p:nvSpPr>
        <p:spPr>
          <a:xfrm>
            <a:off x="4663440" y="3282696"/>
            <a:ext cx="777240" cy="713232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前端</a:t>
            </a:r>
            <a:b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React</a:t>
            </a:r>
            <a:endParaRPr/>
          </a:p>
        </p:txBody>
      </p:sp>
      <p:sp>
        <p:nvSpPr>
          <p:cNvPr id="182" name="Google Shape;182;p14"/>
          <p:cNvSpPr/>
          <p:nvPr/>
        </p:nvSpPr>
        <p:spPr>
          <a:xfrm>
            <a:off x="5532120" y="3282696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POST /auth/login</a:t>
            </a:r>
            <a:endParaRPr/>
          </a:p>
        </p:txBody>
      </p:sp>
      <p:sp>
        <p:nvSpPr>
          <p:cNvPr id="183" name="Google Shape;183;p14"/>
          <p:cNvSpPr/>
          <p:nvPr/>
        </p:nvSpPr>
        <p:spPr>
          <a:xfrm>
            <a:off x="7569098" y="3282696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POST /enrollments/upload</a:t>
            </a:r>
            <a:endParaRPr/>
          </a:p>
        </p:txBody>
      </p:sp>
      <p:sp>
        <p:nvSpPr>
          <p:cNvPr id="184" name="Google Shape;184;p14"/>
          <p:cNvSpPr/>
          <p:nvPr/>
        </p:nvSpPr>
        <p:spPr>
          <a:xfrm>
            <a:off x="9606076" y="3282696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GET /credit-check/me</a:t>
            </a:r>
            <a:b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→ render(JSON)</a:t>
            </a:r>
            <a:endParaRPr/>
          </a:p>
        </p:txBody>
      </p:sp>
      <p:sp>
        <p:nvSpPr>
          <p:cNvPr id="185" name="Google Shape;185;p14"/>
          <p:cNvSpPr/>
          <p:nvPr/>
        </p:nvSpPr>
        <p:spPr>
          <a:xfrm>
            <a:off x="4663440" y="4050792"/>
            <a:ext cx="777240" cy="713232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後端</a:t>
            </a:r>
            <a:br>
              <a:rPr lang="en-US" sz="1000" b="1" i="0" u="none" strike="noStrike" cap="none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1000" b="1" i="0" u="none" strike="noStrike" cap="none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FastAPI</a:t>
            </a:r>
            <a:endParaRPr dirty="0"/>
          </a:p>
        </p:txBody>
      </p:sp>
      <p:sp>
        <p:nvSpPr>
          <p:cNvPr id="186" name="Google Shape;186;p14"/>
          <p:cNvSpPr/>
          <p:nvPr/>
        </p:nvSpPr>
        <p:spPr>
          <a:xfrm>
            <a:off x="5532120" y="4050792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E2EFDA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驗證</a:t>
            </a:r>
            <a:endParaRPr/>
          </a:p>
        </p:txBody>
      </p:sp>
      <p:sp>
        <p:nvSpPr>
          <p:cNvPr id="187" name="Google Shape;187;p14"/>
          <p:cNvSpPr/>
          <p:nvPr/>
        </p:nvSpPr>
        <p:spPr>
          <a:xfrm>
            <a:off x="7569098" y="4050792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E2EFDA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parse + INSERT records</a:t>
            </a:r>
            <a:endParaRPr/>
          </a:p>
        </p:txBody>
      </p:sp>
      <p:sp>
        <p:nvSpPr>
          <p:cNvPr id="188" name="Google Shape;188;p14"/>
          <p:cNvSpPr/>
          <p:nvPr/>
        </p:nvSpPr>
        <p:spPr>
          <a:xfrm>
            <a:off x="9606076" y="4050792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E2EFDA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rule loop + 聚合學分</a:t>
            </a:r>
            <a:endParaRPr/>
          </a:p>
        </p:txBody>
      </p:sp>
      <p:sp>
        <p:nvSpPr>
          <p:cNvPr id="189" name="Google Shape;189;p14"/>
          <p:cNvSpPr/>
          <p:nvPr/>
        </p:nvSpPr>
        <p:spPr>
          <a:xfrm>
            <a:off x="4663440" y="4818888"/>
            <a:ext cx="777240" cy="713232"/>
          </a:xfrm>
          <a:prstGeom prst="roundRect">
            <a:avLst>
              <a:gd name="adj" fmla="val 10000"/>
            </a:avLst>
          </a:prstGeom>
          <a:solidFill>
            <a:srgbClr val="C65911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資料庫</a:t>
            </a:r>
            <a:b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MySQL</a:t>
            </a:r>
            <a:endParaRPr/>
          </a:p>
        </p:txBody>
      </p:sp>
      <p:sp>
        <p:nvSpPr>
          <p:cNvPr id="190" name="Google Shape;190;p14"/>
          <p:cNvSpPr/>
          <p:nvPr/>
        </p:nvSpPr>
        <p:spPr>
          <a:xfrm>
            <a:off x="5532120" y="4818888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SELECT student</a:t>
            </a:r>
            <a:endParaRPr/>
          </a:p>
        </p:txBody>
      </p:sp>
      <p:sp>
        <p:nvSpPr>
          <p:cNvPr id="191" name="Google Shape;191;p14"/>
          <p:cNvSpPr/>
          <p:nvPr/>
        </p:nvSpPr>
        <p:spPr>
          <a:xfrm>
            <a:off x="7569098" y="4818888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INSERT records</a:t>
            </a:r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9606076" y="4818888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SELECT graduation_rule + JOIN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4663440" y="5632704"/>
            <a:ext cx="697961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↓ 同階段各層處理路徑   ·   → 時間軸 (Phase 1 → 2 → 3)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系統介面概覽</a:t>
            </a:r>
            <a:endParaRPr/>
          </a:p>
        </p:txBody>
      </p:sp>
      <p:sp>
        <p:nvSpPr>
          <p:cNvPr id="200" name="Google Shape;200;p15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四個核心畫面(F1–F5)+ 擴充規劃預覽(F6 / F7)</a:t>
            </a:r>
            <a:endParaRPr/>
          </a:p>
        </p:txBody>
      </p:sp>
      <p:sp>
        <p:nvSpPr>
          <p:cNvPr id="201" name="Google Shape;201;p15"/>
          <p:cNvSpPr txBox="1"/>
          <p:nvPr/>
        </p:nvSpPr>
        <p:spPr>
          <a:xfrm>
            <a:off x="10698480" y="4114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 / 10</a:t>
            </a: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0" y="1325880"/>
            <a:ext cx="12191695" cy="18288"/>
          </a:xfrm>
          <a:prstGeom prst="rect">
            <a:avLst/>
          </a:prstGeom>
          <a:solidFill>
            <a:srgbClr val="E3EAF3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5"/>
          <p:cNvSpPr/>
          <p:nvPr/>
        </p:nvSpPr>
        <p:spPr>
          <a:xfrm>
            <a:off x="457200" y="1508760"/>
            <a:ext cx="370332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457200" y="1508760"/>
            <a:ext cx="3703320" cy="228600"/>
          </a:xfrm>
          <a:prstGeom prst="rect">
            <a:avLst/>
          </a:prstGeom>
          <a:solidFill>
            <a:srgbClr val="ECEEF2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530352" y="1577340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658368" y="1577340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786384" y="1577340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960120" y="1572768"/>
            <a:ext cx="310896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 txBox="1"/>
          <p:nvPr/>
        </p:nvSpPr>
        <p:spPr>
          <a:xfrm>
            <a:off x="1033272" y="1572768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B8794"/>
                </a:solidFill>
                <a:latin typeface="Consolas"/>
                <a:ea typeface="Consolas"/>
                <a:cs typeface="Consolas"/>
                <a:sym typeface="Consolas"/>
              </a:rPr>
              <a:t>localhost:3000/login</a:t>
            </a:r>
            <a:endParaRPr/>
          </a:p>
        </p:txBody>
      </p:sp>
      <p:sp>
        <p:nvSpPr>
          <p:cNvPr id="210" name="Google Shape;210;p15"/>
          <p:cNvSpPr/>
          <p:nvPr/>
        </p:nvSpPr>
        <p:spPr>
          <a:xfrm>
            <a:off x="457200" y="3703320"/>
            <a:ext cx="3703320" cy="274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 txBox="1"/>
          <p:nvPr/>
        </p:nvSpPr>
        <p:spPr>
          <a:xfrm>
            <a:off x="566928" y="3730752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① 登入</a:t>
            </a:r>
            <a:endParaRPr/>
          </a:p>
        </p:txBody>
      </p:sp>
      <p:sp>
        <p:nvSpPr>
          <p:cNvPr id="212" name="Google Shape;212;p15"/>
          <p:cNvSpPr/>
          <p:nvPr/>
        </p:nvSpPr>
        <p:spPr>
          <a:xfrm>
            <a:off x="3200400" y="3749040"/>
            <a:ext cx="868680" cy="182880"/>
          </a:xfrm>
          <a:prstGeom prst="roundRect">
            <a:avLst>
              <a:gd name="adj" fmla="val 30000"/>
            </a:avLst>
          </a:prstGeom>
          <a:solidFill>
            <a:srgbClr val="15365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F1</a:t>
            </a:r>
            <a:endParaRPr/>
          </a:p>
        </p:txBody>
      </p:sp>
      <p:sp>
        <p:nvSpPr>
          <p:cNvPr id="213" name="Google Shape;213;p15"/>
          <p:cNvSpPr/>
          <p:nvPr/>
        </p:nvSpPr>
        <p:spPr>
          <a:xfrm>
            <a:off x="2144268" y="1901952"/>
            <a:ext cx="329100" cy="3291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548640" y="2313432"/>
            <a:ext cx="3520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畢業學分檢核系統</a:t>
            </a:r>
            <a:endParaRPr/>
          </a:p>
        </p:txBody>
      </p:sp>
      <p:sp>
        <p:nvSpPr>
          <p:cNvPr id="215" name="Google Shape;215;p15"/>
          <p:cNvSpPr txBox="1"/>
          <p:nvPr/>
        </p:nvSpPr>
        <p:spPr>
          <a:xfrm>
            <a:off x="548640" y="2542032"/>
            <a:ext cx="3520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1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Graduation Credit Verification</a:t>
            </a:r>
            <a:endParaRPr/>
          </a:p>
        </p:txBody>
      </p:sp>
      <p:sp>
        <p:nvSpPr>
          <p:cNvPr id="216" name="Google Shape;216;p15"/>
          <p:cNvSpPr/>
          <p:nvPr/>
        </p:nvSpPr>
        <p:spPr>
          <a:xfrm>
            <a:off x="1097280" y="2862072"/>
            <a:ext cx="2423160" cy="228600"/>
          </a:xfrm>
          <a:prstGeom prst="rect">
            <a:avLst/>
          </a:prstGeom>
          <a:solidFill>
            <a:srgbClr val="F8F9FB"/>
          </a:solidFill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5"/>
          <p:cNvSpPr txBox="1"/>
          <p:nvPr/>
        </p:nvSpPr>
        <p:spPr>
          <a:xfrm>
            <a:off x="1188720" y="2880360"/>
            <a:ext cx="224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學號(例:111703001)</a:t>
            </a:r>
            <a:endParaRPr/>
          </a:p>
        </p:txBody>
      </p:sp>
      <p:sp>
        <p:nvSpPr>
          <p:cNvPr id="218" name="Google Shape;218;p15"/>
          <p:cNvSpPr/>
          <p:nvPr/>
        </p:nvSpPr>
        <p:spPr>
          <a:xfrm>
            <a:off x="1097280" y="3154680"/>
            <a:ext cx="2423160" cy="228600"/>
          </a:xfrm>
          <a:prstGeom prst="rect">
            <a:avLst/>
          </a:prstGeom>
          <a:solidFill>
            <a:srgbClr val="F8F9FB"/>
          </a:solidFill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5"/>
          <p:cNvSpPr txBox="1"/>
          <p:nvPr/>
        </p:nvSpPr>
        <p:spPr>
          <a:xfrm>
            <a:off x="1188720" y="3172968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密碼</a:t>
            </a:r>
            <a:endParaRPr/>
          </a:p>
        </p:txBody>
      </p:sp>
      <p:sp>
        <p:nvSpPr>
          <p:cNvPr id="220" name="Google Shape;220;p15"/>
          <p:cNvSpPr/>
          <p:nvPr/>
        </p:nvSpPr>
        <p:spPr>
          <a:xfrm>
            <a:off x="1097280" y="3502152"/>
            <a:ext cx="2423160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5"/>
          <p:cNvSpPr txBox="1"/>
          <p:nvPr/>
        </p:nvSpPr>
        <p:spPr>
          <a:xfrm>
            <a:off x="1097280" y="353872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登入</a:t>
            </a:r>
            <a:endParaRPr/>
          </a:p>
        </p:txBody>
      </p:sp>
      <p:sp>
        <p:nvSpPr>
          <p:cNvPr id="222" name="Google Shape;222;p15"/>
          <p:cNvSpPr/>
          <p:nvPr/>
        </p:nvSpPr>
        <p:spPr>
          <a:xfrm>
            <a:off x="4251960" y="1508760"/>
            <a:ext cx="370332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4251960" y="1508760"/>
            <a:ext cx="3703320" cy="228600"/>
          </a:xfrm>
          <a:prstGeom prst="rect">
            <a:avLst/>
          </a:prstGeom>
          <a:solidFill>
            <a:srgbClr val="ECEEF2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4325112" y="1577340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4453128" y="1577340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4581144" y="1577340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4754880" y="1572768"/>
            <a:ext cx="310896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 txBox="1"/>
          <p:nvPr/>
        </p:nvSpPr>
        <p:spPr>
          <a:xfrm>
            <a:off x="4828032" y="1572768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B8794"/>
                </a:solidFill>
                <a:latin typeface="Consolas"/>
                <a:ea typeface="Consolas"/>
                <a:cs typeface="Consolas"/>
                <a:sym typeface="Consolas"/>
              </a:rPr>
              <a:t>localhost:3000/dashboard</a:t>
            </a: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4251960" y="3703320"/>
            <a:ext cx="3703320" cy="274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4361688" y="3730752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② 畢業進度總覽</a:t>
            </a:r>
            <a:endParaRPr/>
          </a:p>
        </p:txBody>
      </p:sp>
      <p:sp>
        <p:nvSpPr>
          <p:cNvPr id="231" name="Google Shape;231;p15"/>
          <p:cNvSpPr/>
          <p:nvPr/>
        </p:nvSpPr>
        <p:spPr>
          <a:xfrm>
            <a:off x="6995160" y="3749040"/>
            <a:ext cx="868680" cy="182880"/>
          </a:xfrm>
          <a:prstGeom prst="roundRect">
            <a:avLst>
              <a:gd name="adj" fmla="val 30000"/>
            </a:avLst>
          </a:prstGeom>
          <a:solidFill>
            <a:srgbClr val="15365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F4 + F5</a:t>
            </a:r>
            <a:endParaRPr/>
          </a:p>
        </p:txBody>
      </p:sp>
      <p:sp>
        <p:nvSpPr>
          <p:cNvPr id="232" name="Google Shape;232;p15"/>
          <p:cNvSpPr txBox="1"/>
          <p:nvPr/>
        </p:nvSpPr>
        <p:spPr>
          <a:xfrm>
            <a:off x="4343400" y="1810512"/>
            <a:ext cx="246430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王同學,你好</a:t>
            </a:r>
            <a:endParaRPr/>
          </a:p>
        </p:txBody>
      </p:sp>
      <p:sp>
        <p:nvSpPr>
          <p:cNvPr id="233" name="Google Shape;233;p15"/>
          <p:cNvSpPr txBox="1"/>
          <p:nvPr/>
        </p:nvSpPr>
        <p:spPr>
          <a:xfrm>
            <a:off x="4343400" y="2011680"/>
            <a:ext cx="246430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資科系 · 111 入學 · 已修 89 / 應修 128</a:t>
            </a:r>
            <a:endParaRPr/>
          </a:p>
        </p:txBody>
      </p:sp>
      <p:sp>
        <p:nvSpPr>
          <p:cNvPr id="234" name="Google Shape;234;p15"/>
          <p:cNvSpPr/>
          <p:nvPr/>
        </p:nvSpPr>
        <p:spPr>
          <a:xfrm>
            <a:off x="7223760" y="1810512"/>
            <a:ext cx="594360" cy="292608"/>
          </a:xfrm>
          <a:prstGeom prst="roundRect">
            <a:avLst>
              <a:gd name="adj" fmla="val 40000"/>
            </a:avLst>
          </a:prstGeom>
          <a:solidFill>
            <a:srgbClr val="54823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70%</a:t>
            </a:r>
            <a:endParaRPr/>
          </a:p>
        </p:txBody>
      </p:sp>
      <p:sp>
        <p:nvSpPr>
          <p:cNvPr id="235" name="Google Shape;235;p15"/>
          <p:cNvSpPr/>
          <p:nvPr/>
        </p:nvSpPr>
        <p:spPr>
          <a:xfrm>
            <a:off x="4343400" y="2313432"/>
            <a:ext cx="3520440" cy="34747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4416552" y="234086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系必修</a:t>
            </a:r>
            <a:endParaRPr/>
          </a:p>
        </p:txBody>
      </p:sp>
      <p:sp>
        <p:nvSpPr>
          <p:cNvPr id="237" name="Google Shape;237;p15"/>
          <p:cNvSpPr txBox="1"/>
          <p:nvPr/>
        </p:nvSpPr>
        <p:spPr>
          <a:xfrm>
            <a:off x="6949440" y="2340864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32 / 40 學分</a:t>
            </a:r>
            <a:endParaRPr/>
          </a:p>
        </p:txBody>
      </p:sp>
      <p:sp>
        <p:nvSpPr>
          <p:cNvPr id="238" name="Google Shape;238;p15"/>
          <p:cNvSpPr/>
          <p:nvPr/>
        </p:nvSpPr>
        <p:spPr>
          <a:xfrm>
            <a:off x="4416552" y="2514600"/>
            <a:ext cx="3374136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4416552" y="2514600"/>
            <a:ext cx="2699308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4343400" y="2724912"/>
            <a:ext cx="3520440" cy="34747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4416552" y="275234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通識</a:t>
            </a:r>
            <a:endParaRPr/>
          </a:p>
        </p:txBody>
      </p:sp>
      <p:sp>
        <p:nvSpPr>
          <p:cNvPr id="242" name="Google Shape;242;p15"/>
          <p:cNvSpPr txBox="1"/>
          <p:nvPr/>
        </p:nvSpPr>
        <p:spPr>
          <a:xfrm>
            <a:off x="6949440" y="2752344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22 / 28 學分</a:t>
            </a:r>
            <a:endParaRPr/>
          </a:p>
        </p:txBody>
      </p:sp>
      <p:sp>
        <p:nvSpPr>
          <p:cNvPr id="243" name="Google Shape;243;p15"/>
          <p:cNvSpPr/>
          <p:nvPr/>
        </p:nvSpPr>
        <p:spPr>
          <a:xfrm>
            <a:off x="4416552" y="2926080"/>
            <a:ext cx="3374136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4416552" y="2926080"/>
            <a:ext cx="2631826" cy="9144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4343400" y="3227832"/>
            <a:ext cx="845820" cy="4114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5"/>
          <p:cNvSpPr/>
          <p:nvPr/>
        </p:nvSpPr>
        <p:spPr>
          <a:xfrm>
            <a:off x="4343400" y="3227832"/>
            <a:ext cx="27432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5"/>
          <p:cNvSpPr txBox="1"/>
          <p:nvPr/>
        </p:nvSpPr>
        <p:spPr>
          <a:xfrm>
            <a:off x="4407408" y="3236976"/>
            <a:ext cx="7818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89</a:t>
            </a:r>
            <a:endParaRPr/>
          </a:p>
        </p:txBody>
      </p:sp>
      <p:sp>
        <p:nvSpPr>
          <p:cNvPr id="248" name="Google Shape;248;p15"/>
          <p:cNvSpPr txBox="1"/>
          <p:nvPr/>
        </p:nvSpPr>
        <p:spPr>
          <a:xfrm>
            <a:off x="4407408" y="3447288"/>
            <a:ext cx="7818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已修通過</a:t>
            </a:r>
            <a:endParaRPr/>
          </a:p>
        </p:txBody>
      </p:sp>
      <p:sp>
        <p:nvSpPr>
          <p:cNvPr id="249" name="Google Shape;249;p15"/>
          <p:cNvSpPr/>
          <p:nvPr/>
        </p:nvSpPr>
        <p:spPr>
          <a:xfrm>
            <a:off x="5234940" y="3227832"/>
            <a:ext cx="845820" cy="4114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5234940" y="3227832"/>
            <a:ext cx="27432" cy="41148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 txBox="1"/>
          <p:nvPr/>
        </p:nvSpPr>
        <p:spPr>
          <a:xfrm>
            <a:off x="5298948" y="3236976"/>
            <a:ext cx="7818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39</a:t>
            </a:r>
            <a:endParaRPr/>
          </a:p>
        </p:txBody>
      </p:sp>
      <p:sp>
        <p:nvSpPr>
          <p:cNvPr id="252" name="Google Shape;252;p15"/>
          <p:cNvSpPr txBox="1"/>
          <p:nvPr/>
        </p:nvSpPr>
        <p:spPr>
          <a:xfrm>
            <a:off x="5298948" y="3447288"/>
            <a:ext cx="7818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尚缺學分</a:t>
            </a:r>
            <a:endParaRPr/>
          </a:p>
        </p:txBody>
      </p:sp>
      <p:sp>
        <p:nvSpPr>
          <p:cNvPr id="253" name="Google Shape;253;p15"/>
          <p:cNvSpPr/>
          <p:nvPr/>
        </p:nvSpPr>
        <p:spPr>
          <a:xfrm>
            <a:off x="6126480" y="3227832"/>
            <a:ext cx="845820" cy="4114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6126480" y="3227832"/>
            <a:ext cx="27432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 txBox="1"/>
          <p:nvPr/>
        </p:nvSpPr>
        <p:spPr>
          <a:xfrm>
            <a:off x="6190488" y="3236976"/>
            <a:ext cx="7818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/>
          </a:p>
        </p:txBody>
      </p:sp>
      <p:sp>
        <p:nvSpPr>
          <p:cNvPr id="256" name="Google Shape;256;p15"/>
          <p:cNvSpPr txBox="1"/>
          <p:nvPr/>
        </p:nvSpPr>
        <p:spPr>
          <a:xfrm>
            <a:off x="6190488" y="3447288"/>
            <a:ext cx="7818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缺必修課</a:t>
            </a:r>
            <a:endParaRPr/>
          </a:p>
        </p:txBody>
      </p:sp>
      <p:sp>
        <p:nvSpPr>
          <p:cNvPr id="257" name="Google Shape;257;p15"/>
          <p:cNvSpPr/>
          <p:nvPr/>
        </p:nvSpPr>
        <p:spPr>
          <a:xfrm>
            <a:off x="7018020" y="3227832"/>
            <a:ext cx="845820" cy="4114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7018020" y="3227832"/>
            <a:ext cx="27432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 txBox="1"/>
          <p:nvPr/>
        </p:nvSpPr>
        <p:spPr>
          <a:xfrm>
            <a:off x="7082028" y="3236976"/>
            <a:ext cx="7818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112-2</a:t>
            </a:r>
            <a:endParaRPr/>
          </a:p>
        </p:txBody>
      </p:sp>
      <p:sp>
        <p:nvSpPr>
          <p:cNvPr id="260" name="Google Shape;260;p15"/>
          <p:cNvSpPr txBox="1"/>
          <p:nvPr/>
        </p:nvSpPr>
        <p:spPr>
          <a:xfrm>
            <a:off x="7082028" y="3447288"/>
            <a:ext cx="7818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當前學期</a:t>
            </a: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457200" y="4142232"/>
            <a:ext cx="370332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457200" y="4142232"/>
            <a:ext cx="3703320" cy="228600"/>
          </a:xfrm>
          <a:prstGeom prst="rect">
            <a:avLst/>
          </a:prstGeom>
          <a:solidFill>
            <a:srgbClr val="ECEEF2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530352" y="4210812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658368" y="4210812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786384" y="4210812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960120" y="4206240"/>
            <a:ext cx="310896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 txBox="1"/>
          <p:nvPr/>
        </p:nvSpPr>
        <p:spPr>
          <a:xfrm>
            <a:off x="1033272" y="4206240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B8794"/>
                </a:solidFill>
                <a:latin typeface="Consolas"/>
                <a:ea typeface="Consolas"/>
                <a:cs typeface="Consolas"/>
                <a:sym typeface="Consolas"/>
              </a:rPr>
              <a:t>localhost:3000/enrollments</a:t>
            </a:r>
            <a:endParaRPr/>
          </a:p>
        </p:txBody>
      </p:sp>
      <p:sp>
        <p:nvSpPr>
          <p:cNvPr id="268" name="Google Shape;268;p15"/>
          <p:cNvSpPr/>
          <p:nvPr/>
        </p:nvSpPr>
        <p:spPr>
          <a:xfrm>
            <a:off x="457200" y="6336792"/>
            <a:ext cx="3703320" cy="274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 txBox="1"/>
          <p:nvPr/>
        </p:nvSpPr>
        <p:spPr>
          <a:xfrm>
            <a:off x="566928" y="6364224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③ 修課紀錄</a:t>
            </a:r>
            <a:endParaRPr/>
          </a:p>
        </p:txBody>
      </p:sp>
      <p:sp>
        <p:nvSpPr>
          <p:cNvPr id="270" name="Google Shape;270;p15"/>
          <p:cNvSpPr/>
          <p:nvPr/>
        </p:nvSpPr>
        <p:spPr>
          <a:xfrm>
            <a:off x="3200400" y="6382512"/>
            <a:ext cx="868680" cy="182880"/>
          </a:xfrm>
          <a:prstGeom prst="roundRect">
            <a:avLst>
              <a:gd name="adj" fmla="val 30000"/>
            </a:avLst>
          </a:prstGeom>
          <a:solidFill>
            <a:srgbClr val="15365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F2 + F3</a:t>
            </a: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548640" y="4443984"/>
            <a:ext cx="3520440" cy="5029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 txBox="1"/>
          <p:nvPr/>
        </p:nvSpPr>
        <p:spPr>
          <a:xfrm>
            <a:off x="548640" y="4489704"/>
            <a:ext cx="3520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5B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⬆  拖曳 CSV 或點擊上傳</a:t>
            </a:r>
            <a:endParaRPr/>
          </a:p>
        </p:txBody>
      </p:sp>
      <p:sp>
        <p:nvSpPr>
          <p:cNvPr id="273" name="Google Shape;273;p15"/>
          <p:cNvSpPr txBox="1"/>
          <p:nvPr/>
        </p:nvSpPr>
        <p:spPr>
          <a:xfrm>
            <a:off x="548640" y="4718304"/>
            <a:ext cx="35204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UTF-8 編碼 · 從教務系統 / qrysub 匯出</a:t>
            </a:r>
            <a:endParaRPr/>
          </a:p>
        </p:txBody>
      </p:sp>
      <p:sp>
        <p:nvSpPr>
          <p:cNvPr id="274" name="Google Shape;274;p15"/>
          <p:cNvSpPr txBox="1"/>
          <p:nvPr/>
        </p:nvSpPr>
        <p:spPr>
          <a:xfrm>
            <a:off x="548640" y="5038344"/>
            <a:ext cx="3520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最近上傳:2026-05-15  共 64 筆</a:t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548640" y="5285232"/>
            <a:ext cx="3520440" cy="21945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 txBox="1"/>
          <p:nvPr/>
        </p:nvSpPr>
        <p:spPr>
          <a:xfrm>
            <a:off x="576072" y="532180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學期</a:t>
            </a:r>
            <a:endParaRPr/>
          </a:p>
        </p:txBody>
      </p:sp>
      <p:sp>
        <p:nvSpPr>
          <p:cNvPr id="277" name="Google Shape;277;p15"/>
          <p:cNvSpPr txBox="1"/>
          <p:nvPr/>
        </p:nvSpPr>
        <p:spPr>
          <a:xfrm>
            <a:off x="1417320" y="5321808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課號</a:t>
            </a:r>
            <a:endParaRPr/>
          </a:p>
        </p:txBody>
      </p:sp>
      <p:sp>
        <p:nvSpPr>
          <p:cNvPr id="278" name="Google Shape;278;p15"/>
          <p:cNvSpPr txBox="1"/>
          <p:nvPr/>
        </p:nvSpPr>
        <p:spPr>
          <a:xfrm>
            <a:off x="2057400" y="532180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課名</a:t>
            </a:r>
            <a:endParaRPr/>
          </a:p>
        </p:txBody>
      </p:sp>
      <p:sp>
        <p:nvSpPr>
          <p:cNvPr id="279" name="Google Shape;279;p15"/>
          <p:cNvSpPr txBox="1"/>
          <p:nvPr/>
        </p:nvSpPr>
        <p:spPr>
          <a:xfrm>
            <a:off x="2971800" y="5321808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學分</a:t>
            </a:r>
            <a:endParaRPr/>
          </a:p>
        </p:txBody>
      </p:sp>
      <p:sp>
        <p:nvSpPr>
          <p:cNvPr id="280" name="Google Shape;280;p15"/>
          <p:cNvSpPr txBox="1"/>
          <p:nvPr/>
        </p:nvSpPr>
        <p:spPr>
          <a:xfrm>
            <a:off x="3429000" y="532180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成績</a:t>
            </a:r>
            <a:endParaRPr/>
          </a:p>
        </p:txBody>
      </p:sp>
      <p:sp>
        <p:nvSpPr>
          <p:cNvPr id="281" name="Google Shape;281;p15"/>
          <p:cNvSpPr txBox="1"/>
          <p:nvPr/>
        </p:nvSpPr>
        <p:spPr>
          <a:xfrm>
            <a:off x="576072" y="5522976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112-2</a:t>
            </a:r>
            <a:endParaRPr/>
          </a:p>
        </p:txBody>
      </p:sp>
      <p:sp>
        <p:nvSpPr>
          <p:cNvPr id="282" name="Google Shape;282;p15"/>
          <p:cNvSpPr txBox="1"/>
          <p:nvPr/>
        </p:nvSpPr>
        <p:spPr>
          <a:xfrm>
            <a:off x="1417320" y="552297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CS101</a:t>
            </a:r>
            <a:endParaRPr/>
          </a:p>
        </p:txBody>
      </p:sp>
      <p:sp>
        <p:nvSpPr>
          <p:cNvPr id="283" name="Google Shape;283;p15"/>
          <p:cNvSpPr txBox="1"/>
          <p:nvPr/>
        </p:nvSpPr>
        <p:spPr>
          <a:xfrm>
            <a:off x="2057400" y="5522976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計算機概論</a:t>
            </a:r>
            <a:endParaRPr/>
          </a:p>
        </p:txBody>
      </p:sp>
      <p:sp>
        <p:nvSpPr>
          <p:cNvPr id="284" name="Google Shape;284;p15"/>
          <p:cNvSpPr txBox="1"/>
          <p:nvPr/>
        </p:nvSpPr>
        <p:spPr>
          <a:xfrm>
            <a:off x="2971800" y="55229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/>
          </a:p>
        </p:txBody>
      </p:sp>
      <p:sp>
        <p:nvSpPr>
          <p:cNvPr id="285" name="Google Shape;285;p15"/>
          <p:cNvSpPr txBox="1"/>
          <p:nvPr/>
        </p:nvSpPr>
        <p:spPr>
          <a:xfrm>
            <a:off x="3429000" y="5522976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54823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</a:t>
            </a: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548640" y="5687568"/>
            <a:ext cx="3520440" cy="1828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 txBox="1"/>
          <p:nvPr/>
        </p:nvSpPr>
        <p:spPr>
          <a:xfrm>
            <a:off x="576072" y="5705856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112-2</a:t>
            </a:r>
            <a:endParaRPr/>
          </a:p>
        </p:txBody>
      </p:sp>
      <p:sp>
        <p:nvSpPr>
          <p:cNvPr id="288" name="Google Shape;288;p15"/>
          <p:cNvSpPr txBox="1"/>
          <p:nvPr/>
        </p:nvSpPr>
        <p:spPr>
          <a:xfrm>
            <a:off x="1417320" y="570585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CS203</a:t>
            </a:r>
            <a:endParaRPr/>
          </a:p>
        </p:txBody>
      </p:sp>
      <p:sp>
        <p:nvSpPr>
          <p:cNvPr id="289" name="Google Shape;289;p15"/>
          <p:cNvSpPr txBox="1"/>
          <p:nvPr/>
        </p:nvSpPr>
        <p:spPr>
          <a:xfrm>
            <a:off x="2057400" y="5705856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資料結構</a:t>
            </a:r>
            <a:endParaRPr/>
          </a:p>
        </p:txBody>
      </p:sp>
      <p:sp>
        <p:nvSpPr>
          <p:cNvPr id="290" name="Google Shape;290;p15"/>
          <p:cNvSpPr txBox="1"/>
          <p:nvPr/>
        </p:nvSpPr>
        <p:spPr>
          <a:xfrm>
            <a:off x="2971800" y="570585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/>
          </a:p>
        </p:txBody>
      </p:sp>
      <p:sp>
        <p:nvSpPr>
          <p:cNvPr id="291" name="Google Shape;291;p15"/>
          <p:cNvSpPr txBox="1"/>
          <p:nvPr/>
        </p:nvSpPr>
        <p:spPr>
          <a:xfrm>
            <a:off x="3429000" y="5705856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54823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A-</a:t>
            </a:r>
            <a:endParaRPr/>
          </a:p>
        </p:txBody>
      </p:sp>
      <p:sp>
        <p:nvSpPr>
          <p:cNvPr id="292" name="Google Shape;292;p15"/>
          <p:cNvSpPr txBox="1"/>
          <p:nvPr/>
        </p:nvSpPr>
        <p:spPr>
          <a:xfrm>
            <a:off x="576072" y="5888736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112-2</a:t>
            </a:r>
            <a:endParaRPr/>
          </a:p>
        </p:txBody>
      </p:sp>
      <p:sp>
        <p:nvSpPr>
          <p:cNvPr id="293" name="Google Shape;293;p15"/>
          <p:cNvSpPr txBox="1"/>
          <p:nvPr/>
        </p:nvSpPr>
        <p:spPr>
          <a:xfrm>
            <a:off x="1417320" y="588873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CS301</a:t>
            </a:r>
            <a:endParaRPr/>
          </a:p>
        </p:txBody>
      </p:sp>
      <p:sp>
        <p:nvSpPr>
          <p:cNvPr id="294" name="Google Shape;294;p15"/>
          <p:cNvSpPr txBox="1"/>
          <p:nvPr/>
        </p:nvSpPr>
        <p:spPr>
          <a:xfrm>
            <a:off x="2057400" y="5888736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資料庫管理</a:t>
            </a:r>
            <a:endParaRPr/>
          </a:p>
        </p:txBody>
      </p:sp>
      <p:sp>
        <p:nvSpPr>
          <p:cNvPr id="295" name="Google Shape;295;p15"/>
          <p:cNvSpPr txBox="1"/>
          <p:nvPr/>
        </p:nvSpPr>
        <p:spPr>
          <a:xfrm>
            <a:off x="2971800" y="588873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/>
          </a:p>
        </p:txBody>
      </p:sp>
      <p:sp>
        <p:nvSpPr>
          <p:cNvPr id="296" name="Google Shape;296;p15"/>
          <p:cNvSpPr txBox="1"/>
          <p:nvPr/>
        </p:nvSpPr>
        <p:spPr>
          <a:xfrm>
            <a:off x="3429000" y="5888736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54823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B+</a:t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548640" y="6053328"/>
            <a:ext cx="3520440" cy="1828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576072" y="6071616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112-1</a:t>
            </a:r>
            <a:endParaRPr/>
          </a:p>
        </p:txBody>
      </p:sp>
      <p:sp>
        <p:nvSpPr>
          <p:cNvPr id="299" name="Google Shape;299;p15"/>
          <p:cNvSpPr txBox="1"/>
          <p:nvPr/>
        </p:nvSpPr>
        <p:spPr>
          <a:xfrm>
            <a:off x="1417320" y="60716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MA101</a:t>
            </a:r>
            <a:endParaRPr/>
          </a:p>
        </p:txBody>
      </p:sp>
      <p:sp>
        <p:nvSpPr>
          <p:cNvPr id="300" name="Google Shape;300;p15"/>
          <p:cNvSpPr txBox="1"/>
          <p:nvPr/>
        </p:nvSpPr>
        <p:spPr>
          <a:xfrm>
            <a:off x="2057400" y="6071616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微積分(一)</a:t>
            </a:r>
            <a:endParaRPr/>
          </a:p>
        </p:txBody>
      </p:sp>
      <p:sp>
        <p:nvSpPr>
          <p:cNvPr id="301" name="Google Shape;301;p15"/>
          <p:cNvSpPr txBox="1"/>
          <p:nvPr/>
        </p:nvSpPr>
        <p:spPr>
          <a:xfrm>
            <a:off x="2971800" y="607161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/>
          </a:p>
        </p:txBody>
      </p:sp>
      <p:sp>
        <p:nvSpPr>
          <p:cNvPr id="302" name="Google Shape;302;p15"/>
          <p:cNvSpPr txBox="1"/>
          <p:nvPr/>
        </p:nvSpPr>
        <p:spPr>
          <a:xfrm>
            <a:off x="3429000" y="6071616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C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</a:t>
            </a: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4251960" y="4142232"/>
            <a:ext cx="370332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4251960" y="4142232"/>
            <a:ext cx="3703320" cy="228600"/>
          </a:xfrm>
          <a:prstGeom prst="rect">
            <a:avLst/>
          </a:prstGeom>
          <a:solidFill>
            <a:srgbClr val="ECEEF2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4325112" y="4210812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4453128" y="4210812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4581144" y="4210812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4754880" y="4206240"/>
            <a:ext cx="310896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 txBox="1"/>
          <p:nvPr/>
        </p:nvSpPr>
        <p:spPr>
          <a:xfrm>
            <a:off x="4828032" y="4206240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B8794"/>
                </a:solidFill>
                <a:latin typeface="Consolas"/>
                <a:ea typeface="Consolas"/>
                <a:cs typeface="Consolas"/>
                <a:sym typeface="Consolas"/>
              </a:rPr>
              <a:t>localhost:3000/check</a:t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4251960" y="6336792"/>
            <a:ext cx="3703320" cy="274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 txBox="1"/>
          <p:nvPr/>
        </p:nvSpPr>
        <p:spPr>
          <a:xfrm>
            <a:off x="4361688" y="6364224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④ 檢核明細</a:t>
            </a:r>
            <a:endParaRPr/>
          </a:p>
        </p:txBody>
      </p:sp>
      <p:sp>
        <p:nvSpPr>
          <p:cNvPr id="312" name="Google Shape;312;p15"/>
          <p:cNvSpPr/>
          <p:nvPr/>
        </p:nvSpPr>
        <p:spPr>
          <a:xfrm>
            <a:off x="6995160" y="6382512"/>
            <a:ext cx="868680" cy="182880"/>
          </a:xfrm>
          <a:prstGeom prst="roundRect">
            <a:avLst>
              <a:gd name="adj" fmla="val 30000"/>
            </a:avLst>
          </a:prstGeom>
          <a:solidFill>
            <a:srgbClr val="15365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F4</a:t>
            </a:r>
            <a:endParaRPr/>
          </a:p>
        </p:txBody>
      </p:sp>
      <p:sp>
        <p:nvSpPr>
          <p:cNvPr id="313" name="Google Shape;313;p15"/>
          <p:cNvSpPr txBox="1"/>
          <p:nvPr/>
        </p:nvSpPr>
        <p:spPr>
          <a:xfrm>
            <a:off x="4343400" y="4443984"/>
            <a:ext cx="228828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畢業檢核明細</a:t>
            </a:r>
            <a:endParaRPr/>
          </a:p>
        </p:txBody>
      </p:sp>
      <p:sp>
        <p:nvSpPr>
          <p:cNvPr id="314" name="Google Shape;314;p15"/>
          <p:cNvSpPr txBox="1"/>
          <p:nvPr/>
        </p:nvSpPr>
        <p:spPr>
          <a:xfrm>
            <a:off x="6103620" y="4462272"/>
            <a:ext cx="17145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 規則 · 5 達成 / 3 待補</a:t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4343400" y="4736592"/>
            <a:ext cx="3520440" cy="29260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4343400" y="4736592"/>
            <a:ext cx="45720" cy="292608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 txBox="1"/>
          <p:nvPr/>
        </p:nvSpPr>
        <p:spPr>
          <a:xfrm>
            <a:off x="4453128" y="4745736"/>
            <a:ext cx="30175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系必修課全數通過</a:t>
            </a:r>
            <a:endParaRPr/>
          </a:p>
        </p:txBody>
      </p:sp>
      <p:sp>
        <p:nvSpPr>
          <p:cNvPr id="318" name="Google Shape;318;p15"/>
          <p:cNvSpPr txBox="1"/>
          <p:nvPr/>
        </p:nvSpPr>
        <p:spPr>
          <a:xfrm>
            <a:off x="4453128" y="4882896"/>
            <a:ext cx="3017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REQUIRED_ALL · 12/12 門</a:t>
            </a:r>
            <a:endParaRPr/>
          </a:p>
        </p:txBody>
      </p:sp>
      <p:sp>
        <p:nvSpPr>
          <p:cNvPr id="319" name="Google Shape;319;p15"/>
          <p:cNvSpPr txBox="1"/>
          <p:nvPr/>
        </p:nvSpPr>
        <p:spPr>
          <a:xfrm>
            <a:off x="7498080" y="4773168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54823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✓</a:t>
            </a: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4343400" y="5065776"/>
            <a:ext cx="3520440" cy="292608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4343400" y="5065776"/>
            <a:ext cx="45720" cy="292608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 txBox="1"/>
          <p:nvPr/>
        </p:nvSpPr>
        <p:spPr>
          <a:xfrm>
            <a:off x="4453128" y="5074920"/>
            <a:ext cx="30175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通識學分 ≥ 28</a:t>
            </a:r>
            <a:endParaRPr/>
          </a:p>
        </p:txBody>
      </p:sp>
      <p:sp>
        <p:nvSpPr>
          <p:cNvPr id="323" name="Google Shape;323;p15"/>
          <p:cNvSpPr txBox="1"/>
          <p:nvPr/>
        </p:nvSpPr>
        <p:spPr>
          <a:xfrm>
            <a:off x="4453128" y="5212080"/>
            <a:ext cx="3017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MIN_CREDITS · 22/28 · 差 6</a:t>
            </a:r>
            <a:endParaRPr/>
          </a:p>
        </p:txBody>
      </p:sp>
      <p:sp>
        <p:nvSpPr>
          <p:cNvPr id="324" name="Google Shape;324;p15"/>
          <p:cNvSpPr txBox="1"/>
          <p:nvPr/>
        </p:nvSpPr>
        <p:spPr>
          <a:xfrm>
            <a:off x="7498080" y="5102352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BF8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!</a:t>
            </a: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4343400" y="5394960"/>
            <a:ext cx="3520440" cy="292608"/>
          </a:xfrm>
          <a:prstGeom prst="rect">
            <a:avLst/>
          </a:prstGeom>
          <a:solidFill>
            <a:srgbClr val="F8CECC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4343400" y="5394960"/>
            <a:ext cx="4572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 txBox="1"/>
          <p:nvPr/>
        </p:nvSpPr>
        <p:spPr>
          <a:xfrm>
            <a:off x="4453128" y="5404104"/>
            <a:ext cx="30175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系選修 ≥ 18</a:t>
            </a:r>
            <a:endParaRPr/>
          </a:p>
        </p:txBody>
      </p:sp>
      <p:sp>
        <p:nvSpPr>
          <p:cNvPr id="328" name="Google Shape;328;p15"/>
          <p:cNvSpPr txBox="1"/>
          <p:nvPr/>
        </p:nvSpPr>
        <p:spPr>
          <a:xfrm>
            <a:off x="4453128" y="5541264"/>
            <a:ext cx="3017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MIN_CREDITS · 6/18 · 差 12</a:t>
            </a:r>
            <a:endParaRPr/>
          </a:p>
        </p:txBody>
      </p:sp>
      <p:sp>
        <p:nvSpPr>
          <p:cNvPr id="329" name="Google Shape;329;p15"/>
          <p:cNvSpPr txBox="1"/>
          <p:nvPr/>
        </p:nvSpPr>
        <p:spPr>
          <a:xfrm>
            <a:off x="7498080" y="5431536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C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✗</a:t>
            </a: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4343400" y="5724144"/>
            <a:ext cx="3520440" cy="29260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4343400" y="5724144"/>
            <a:ext cx="45720" cy="292608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 txBox="1"/>
          <p:nvPr/>
        </p:nvSpPr>
        <p:spPr>
          <a:xfrm>
            <a:off x="4453128" y="5733288"/>
            <a:ext cx="30175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體育 4 學期</a:t>
            </a:r>
            <a:endParaRPr/>
          </a:p>
        </p:txBody>
      </p:sp>
      <p:sp>
        <p:nvSpPr>
          <p:cNvPr id="333" name="Google Shape;333;p15"/>
          <p:cNvSpPr txBox="1"/>
          <p:nvPr/>
        </p:nvSpPr>
        <p:spPr>
          <a:xfrm>
            <a:off x="4453128" y="5870448"/>
            <a:ext cx="3017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MIN_COURSES · 4/4</a:t>
            </a:r>
            <a:endParaRPr/>
          </a:p>
        </p:txBody>
      </p:sp>
      <p:sp>
        <p:nvSpPr>
          <p:cNvPr id="334" name="Google Shape;334;p15"/>
          <p:cNvSpPr txBox="1"/>
          <p:nvPr/>
        </p:nvSpPr>
        <p:spPr>
          <a:xfrm>
            <a:off x="7498080" y="5760720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54823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✓</a:t>
            </a:r>
            <a:endParaRPr/>
          </a:p>
        </p:txBody>
      </p:sp>
      <p:sp>
        <p:nvSpPr>
          <p:cNvPr id="335" name="Google Shape;335;p15"/>
          <p:cNvSpPr/>
          <p:nvPr/>
        </p:nvSpPr>
        <p:spPr>
          <a:xfrm>
            <a:off x="4343400" y="6053328"/>
            <a:ext cx="3520440" cy="292608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4343400" y="6053328"/>
            <a:ext cx="45720" cy="292608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 txBox="1"/>
          <p:nvPr/>
        </p:nvSpPr>
        <p:spPr>
          <a:xfrm>
            <a:off x="4453128" y="6062472"/>
            <a:ext cx="30175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英文檢定門檻</a:t>
            </a:r>
            <a:endParaRPr/>
          </a:p>
        </p:txBody>
      </p:sp>
      <p:sp>
        <p:nvSpPr>
          <p:cNvPr id="338" name="Google Shape;338;p15"/>
          <p:cNvSpPr txBox="1"/>
          <p:nvPr/>
        </p:nvSpPr>
        <p:spPr>
          <a:xfrm>
            <a:off x="4453128" y="6199632"/>
            <a:ext cx="3017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未上傳成績單</a:t>
            </a:r>
            <a:endParaRPr/>
          </a:p>
        </p:txBody>
      </p:sp>
      <p:sp>
        <p:nvSpPr>
          <p:cNvPr id="339" name="Google Shape;339;p15"/>
          <p:cNvSpPr txBox="1"/>
          <p:nvPr/>
        </p:nvSpPr>
        <p:spPr>
          <a:xfrm>
            <a:off x="7498080" y="6089904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BF8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!</a:t>
            </a: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8046720" y="1508760"/>
            <a:ext cx="3687775" cy="510235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BF8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8046720" y="1508760"/>
            <a:ext cx="3687775" cy="420624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 txBox="1"/>
          <p:nvPr/>
        </p:nvSpPr>
        <p:spPr>
          <a:xfrm>
            <a:off x="8211312" y="1600200"/>
            <a:ext cx="35048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擴 充 規 劃   Future Work</a:t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8229600" y="2112264"/>
            <a:ext cx="502920" cy="292608"/>
          </a:xfrm>
          <a:prstGeom prst="roundRect">
            <a:avLst>
              <a:gd name="adj" fmla="val 30000"/>
            </a:avLst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F6</a:t>
            </a:r>
            <a:endParaRPr/>
          </a:p>
        </p:txBody>
      </p:sp>
      <p:sp>
        <p:nvSpPr>
          <p:cNvPr id="344" name="Google Shape;344;p15"/>
          <p:cNvSpPr txBox="1"/>
          <p:nvPr/>
        </p:nvSpPr>
        <p:spPr>
          <a:xfrm>
            <a:off x="8823960" y="2130552"/>
            <a:ext cx="277337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補修課程推薦</a:t>
            </a:r>
            <a:endParaRPr/>
          </a:p>
        </p:txBody>
      </p:sp>
      <p:sp>
        <p:nvSpPr>
          <p:cNvPr id="345" name="Google Shape;345;p15"/>
          <p:cNvSpPr txBox="1"/>
          <p:nvPr/>
        </p:nvSpPr>
        <p:spPr>
          <a:xfrm>
            <a:off x="8229600" y="2523744"/>
            <a:ext cx="3322015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依學生缺漏類別 + 同儕通過率排序,推薦學期可補修課程清單。需擴充查詢邏輯與排序權重設計。</a:t>
            </a:r>
            <a:endParaRPr/>
          </a:p>
        </p:txBody>
      </p:sp>
      <p:sp>
        <p:nvSpPr>
          <p:cNvPr id="346" name="Google Shape;346;p15"/>
          <p:cNvSpPr/>
          <p:nvPr/>
        </p:nvSpPr>
        <p:spPr>
          <a:xfrm>
            <a:off x="8229600" y="3300984"/>
            <a:ext cx="3322015" cy="13716"/>
          </a:xfrm>
          <a:prstGeom prst="rect">
            <a:avLst/>
          </a:prstGeom>
          <a:solidFill>
            <a:srgbClr val="E3EAF3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8229600" y="3438144"/>
            <a:ext cx="502920" cy="292608"/>
          </a:xfrm>
          <a:prstGeom prst="roundRect">
            <a:avLst>
              <a:gd name="adj" fmla="val 30000"/>
            </a:avLst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F7</a:t>
            </a:r>
            <a:endParaRPr/>
          </a:p>
        </p:txBody>
      </p:sp>
      <p:sp>
        <p:nvSpPr>
          <p:cNvPr id="348" name="Google Shape;348;p15"/>
          <p:cNvSpPr txBox="1"/>
          <p:nvPr/>
        </p:nvSpPr>
        <p:spPr>
          <a:xfrm>
            <a:off x="8823960" y="3456432"/>
            <a:ext cx="277337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教室走動預警</a:t>
            </a:r>
            <a:endParaRPr/>
          </a:p>
        </p:txBody>
      </p:sp>
      <p:sp>
        <p:nvSpPr>
          <p:cNvPr id="349" name="Google Shape;349;p15"/>
          <p:cNvSpPr txBox="1"/>
          <p:nvPr/>
        </p:nvSpPr>
        <p:spPr>
          <a:xfrm>
            <a:off x="8229600" y="3849624"/>
            <a:ext cx="3322015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計算同學生連續課堂之教室距離與步行時間。需新增 Classroom / Building_distance schema 與 self-join 查詢。</a:t>
            </a:r>
            <a:endParaRPr/>
          </a:p>
        </p:txBody>
      </p:sp>
      <p:sp>
        <p:nvSpPr>
          <p:cNvPr id="350" name="Google Shape;350;p15"/>
          <p:cNvSpPr txBox="1"/>
          <p:nvPr/>
        </p:nvSpPr>
        <p:spPr>
          <a:xfrm>
            <a:off x="8229600" y="6199632"/>
            <a:ext cx="3322015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1" u="none" strike="noStrike" cap="none">
                <a:solidFill>
                  <a:srgbClr val="BF8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於 W1–W5 核心完成後啟動</a:t>
            </a:r>
            <a:endParaRPr/>
          </a:p>
        </p:txBody>
      </p:sp>
      <p:sp>
        <p:nvSpPr>
          <p:cNvPr id="351" name="Google Shape;351;p15"/>
          <p:cNvSpPr txBox="1"/>
          <p:nvPr/>
        </p:nvSpPr>
        <p:spPr>
          <a:xfrm>
            <a:off x="2103125" y="1874488"/>
            <a:ext cx="411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學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E9DFCA0-056E-7A7F-E7DA-7E7095D67C01}"/>
              </a:ext>
            </a:extLst>
          </p:cNvPr>
          <p:cNvSpPr txBox="1"/>
          <p:nvPr/>
        </p:nvSpPr>
        <p:spPr>
          <a:xfrm>
            <a:off x="571500" y="469900"/>
            <a:ext cx="7747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2700" b="1">
                <a:solidFill>
                  <a:srgbClr val="1F4E79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核心技術選用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42BA692-5290-19B9-3C79-CF2A961AC29E}"/>
              </a:ext>
            </a:extLst>
          </p:cNvPr>
          <p:cNvSpPr txBox="1"/>
          <p:nvPr/>
        </p:nvSpPr>
        <p:spPr>
          <a:xfrm>
            <a:off x="584200" y="1003300"/>
            <a:ext cx="8255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25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SQLAlchemy ORM · K6 Load Testing</a:t>
            </a:r>
            <a:endParaRPr lang="zh-TW" altLang="en-US" sz="1250" i="1">
              <a:solidFill>
                <a:srgbClr val="7C8794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D319F67-DAA2-B9FB-21EB-906A7919B565}"/>
              </a:ext>
            </a:extLst>
          </p:cNvPr>
          <p:cNvSpPr txBox="1"/>
          <p:nvPr/>
        </p:nvSpPr>
        <p:spPr>
          <a:xfrm>
            <a:off x="11480800" y="533400"/>
            <a:ext cx="457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TW" sz="1050">
                <a:solidFill>
                  <a:srgbClr val="708090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4 / 10</a:t>
            </a:r>
            <a:endParaRPr lang="zh-TW" altLang="en-US" sz="1050">
              <a:solidFill>
                <a:srgbClr val="708090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8B65F590-E817-09E0-0A75-BA55BB3B6A55}"/>
              </a:ext>
            </a:extLst>
          </p:cNvPr>
          <p:cNvCxnSpPr/>
          <p:nvPr/>
        </p:nvCxnSpPr>
        <p:spPr>
          <a:xfrm>
            <a:off x="0" y="1574800"/>
            <a:ext cx="12192000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4A692BA4-1F56-75C2-A47F-8546A2A26841}"/>
              </a:ext>
            </a:extLst>
          </p:cNvPr>
          <p:cNvSpPr txBox="1"/>
          <p:nvPr/>
        </p:nvSpPr>
        <p:spPr>
          <a:xfrm>
            <a:off x="571500" y="1854200"/>
            <a:ext cx="317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altLang="zh-TW" sz="950" b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C O R E   T E C H   D E C I S I O N</a:t>
            </a:r>
            <a:endParaRPr lang="zh-TW" altLang="en-US" sz="950" b="1">
              <a:solidFill>
                <a:srgbClr val="7C8794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75226D-BCEF-97F9-8229-4204696A0F03}"/>
              </a:ext>
            </a:extLst>
          </p:cNvPr>
          <p:cNvSpPr/>
          <p:nvPr/>
        </p:nvSpPr>
        <p:spPr>
          <a:xfrm>
            <a:off x="584200" y="2209751"/>
            <a:ext cx="5270500" cy="3860800"/>
          </a:xfrm>
          <a:prstGeom prst="rect">
            <a:avLst/>
          </a:prstGeom>
          <a:solidFill>
            <a:srgbClr val="F8FAFD"/>
          </a:solidFill>
          <a:ln w="1016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B5DA517-2FA3-C342-A94C-78560DE877D8}"/>
              </a:ext>
            </a:extLst>
          </p:cNvPr>
          <p:cNvSpPr/>
          <p:nvPr/>
        </p:nvSpPr>
        <p:spPr>
          <a:xfrm>
            <a:off x="571500" y="2260600"/>
            <a:ext cx="5270500" cy="45720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6146BF9-889A-6EBD-67E7-002196CB8C57}"/>
              </a:ext>
            </a:extLst>
          </p:cNvPr>
          <p:cNvSpPr txBox="1"/>
          <p:nvPr/>
        </p:nvSpPr>
        <p:spPr>
          <a:xfrm>
            <a:off x="812800" y="2374900"/>
            <a:ext cx="330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ORM</a:t>
            </a:r>
            <a:r>
              <a:rPr lang="zh-TW" altLang="en-US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：</a:t>
            </a:r>
            <a:r>
              <a:rPr lang="en-US" altLang="zh-TW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SQLAlchemy</a:t>
            </a:r>
            <a:endParaRPr lang="zh-TW" altLang="en-US" b="1">
              <a:solidFill>
                <a:srgbClr val="FFFFFF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0F53FBC-5128-771B-F650-AEA92237BC0A}"/>
              </a:ext>
            </a:extLst>
          </p:cNvPr>
          <p:cNvSpPr/>
          <p:nvPr/>
        </p:nvSpPr>
        <p:spPr>
          <a:xfrm>
            <a:off x="4635500" y="2349500"/>
            <a:ext cx="889000" cy="279400"/>
          </a:xfrm>
          <a:prstGeom prst="roundRect">
            <a:avLst>
              <a:gd name="adj" fmla="val 22000"/>
            </a:avLst>
          </a:prstGeom>
          <a:solidFill>
            <a:srgbClr val="17476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TW" altLang="en-US" sz="1000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資料層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52DF1B0-1967-FB24-F8E1-CEF746E196FD}"/>
              </a:ext>
            </a:extLst>
          </p:cNvPr>
          <p:cNvSpPr txBox="1"/>
          <p:nvPr/>
        </p:nvSpPr>
        <p:spPr>
          <a:xfrm>
            <a:off x="812800" y="2946400"/>
            <a:ext cx="4572000" cy="3262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定義與運作：將 </a:t>
            </a:r>
            <a:r>
              <a:rPr lang="en-US" altLang="zh-TW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MySQL </a:t>
            </a:r>
            <a:r>
              <a:rPr lang="zh-TW" altLang="en-US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資料表對映為 </a:t>
            </a:r>
            <a:r>
              <a:rPr lang="en-US" altLang="zh-TW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Python </a:t>
            </a:r>
            <a:r>
              <a:rPr lang="zh-TW" altLang="en-US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類別，用操作「物件」的方式處理學籍、修課與成績資料。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DB41B83-FBAB-3EFC-F284-F8BA48CF9E43}"/>
              </a:ext>
            </a:extLst>
          </p:cNvPr>
          <p:cNvSpPr txBox="1"/>
          <p:nvPr/>
        </p:nvSpPr>
        <p:spPr>
          <a:xfrm>
            <a:off x="812800" y="3632200"/>
            <a:ext cx="4572000" cy="3262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6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安全與防護：內建參數化查詢，降低 </a:t>
            </a:r>
            <a:r>
              <a:rPr lang="en-US" altLang="zh-TW" sz="106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SQL Injection </a:t>
            </a:r>
            <a:r>
              <a:rPr lang="zh-TW" altLang="en-US" sz="106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與手寫 </a:t>
            </a:r>
            <a:r>
              <a:rPr lang="en-US" altLang="zh-TW" sz="106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SQL </a:t>
            </a:r>
            <a:r>
              <a:rPr lang="zh-TW" altLang="en-US" sz="106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錯誤造成的資料風險。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7A16195-CD11-F43F-D6AA-3B16C7703319}"/>
              </a:ext>
            </a:extLst>
          </p:cNvPr>
          <p:cNvSpPr txBox="1"/>
          <p:nvPr/>
        </p:nvSpPr>
        <p:spPr>
          <a:xfrm>
            <a:off x="812800" y="4318000"/>
            <a:ext cx="4572000" cy="3262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6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複雜關聯處理：以 </a:t>
            </a:r>
            <a:r>
              <a:rPr lang="en-US" altLang="zh-TW" sz="106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relationship </a:t>
            </a:r>
            <a:r>
              <a:rPr lang="zh-TW" altLang="en-US" sz="106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對應「學生－修課－畢業門檻」等 </a:t>
            </a:r>
            <a:r>
              <a:rPr lang="en-US" altLang="zh-TW" sz="106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N:M </a:t>
            </a:r>
            <a:r>
              <a:rPr lang="zh-TW" altLang="en-US" sz="106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與交會表情境。</a:t>
            </a: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E6C26BE9-2DD0-93E5-2513-D60D33E6D6A4}"/>
              </a:ext>
            </a:extLst>
          </p:cNvPr>
          <p:cNvCxnSpPr/>
          <p:nvPr/>
        </p:nvCxnSpPr>
        <p:spPr>
          <a:xfrm>
            <a:off x="812800" y="5486400"/>
            <a:ext cx="4711700" cy="0"/>
          </a:xfrm>
          <a:prstGeom prst="line">
            <a:avLst/>
          </a:prstGeom>
          <a:ln w="10160">
            <a:solidFill>
              <a:srgbClr val="DDE5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3A87A7F-CD28-668C-26BC-92542EE37EEA}"/>
              </a:ext>
            </a:extLst>
          </p:cNvPr>
          <p:cNvSpPr txBox="1"/>
          <p:nvPr/>
        </p:nvSpPr>
        <p:spPr>
          <a:xfrm>
            <a:off x="812800" y="5664200"/>
            <a:ext cx="4572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95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核心定位：提升開發效率，同時守住資料安全與關聯一致性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A0D6079-C3D3-C676-A184-FCDEF22BB3F1}"/>
              </a:ext>
            </a:extLst>
          </p:cNvPr>
          <p:cNvSpPr/>
          <p:nvPr/>
        </p:nvSpPr>
        <p:spPr>
          <a:xfrm>
            <a:off x="6350000" y="2260600"/>
            <a:ext cx="5270500" cy="3860800"/>
          </a:xfrm>
          <a:prstGeom prst="rect">
            <a:avLst/>
          </a:prstGeom>
          <a:solidFill>
            <a:srgbClr val="F8FAFD"/>
          </a:solidFill>
          <a:ln w="1016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3B0C712-E927-7867-4427-A8DD501FBA0D}"/>
              </a:ext>
            </a:extLst>
          </p:cNvPr>
          <p:cNvSpPr/>
          <p:nvPr/>
        </p:nvSpPr>
        <p:spPr>
          <a:xfrm>
            <a:off x="6350000" y="2260600"/>
            <a:ext cx="5270500" cy="457200"/>
          </a:xfrm>
          <a:prstGeom prst="rect">
            <a:avLst/>
          </a:prstGeom>
          <a:solidFill>
            <a:srgbClr val="C99500"/>
          </a:solidFill>
          <a:ln w="0">
            <a:solidFill>
              <a:srgbClr val="C99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566C759-A9D5-2F64-0179-CD3E3416EF8F}"/>
              </a:ext>
            </a:extLst>
          </p:cNvPr>
          <p:cNvSpPr txBox="1"/>
          <p:nvPr/>
        </p:nvSpPr>
        <p:spPr>
          <a:xfrm>
            <a:off x="6591300" y="2374900"/>
            <a:ext cx="330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壓測工具：</a:t>
            </a:r>
            <a:r>
              <a:rPr lang="en-US" altLang="zh-TW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K6</a:t>
            </a:r>
            <a:endParaRPr lang="zh-TW" altLang="en-US" b="1">
              <a:solidFill>
                <a:srgbClr val="FFFFFF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711171AD-8A20-585E-3575-98521DCDFF94}"/>
              </a:ext>
            </a:extLst>
          </p:cNvPr>
          <p:cNvSpPr/>
          <p:nvPr/>
        </p:nvSpPr>
        <p:spPr>
          <a:xfrm>
            <a:off x="10414000" y="2349500"/>
            <a:ext cx="889000" cy="279400"/>
          </a:xfrm>
          <a:prstGeom prst="roundRect">
            <a:avLst>
              <a:gd name="adj" fmla="val 22000"/>
            </a:avLst>
          </a:prstGeom>
          <a:solidFill>
            <a:srgbClr val="A77C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TW" altLang="en-US" sz="1000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效能層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BFFDEBB-AB80-E6E6-183D-2F24CAACE7FA}"/>
              </a:ext>
            </a:extLst>
          </p:cNvPr>
          <p:cNvSpPr txBox="1"/>
          <p:nvPr/>
        </p:nvSpPr>
        <p:spPr>
          <a:xfrm>
            <a:off x="6604000" y="2933700"/>
            <a:ext cx="457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00" b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壓測路徑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7AFE4A5F-4E16-8BF3-0949-08C5033FB0CD}"/>
              </a:ext>
            </a:extLst>
          </p:cNvPr>
          <p:cNvSpPr/>
          <p:nvPr/>
        </p:nvSpPr>
        <p:spPr>
          <a:xfrm>
            <a:off x="6604000" y="3263900"/>
            <a:ext cx="914400" cy="330200"/>
          </a:xfrm>
          <a:prstGeom prst="roundRect">
            <a:avLst>
              <a:gd name="adj" fmla="val 22000"/>
            </a:avLst>
          </a:prstGeom>
          <a:solidFill>
            <a:srgbClr val="1F4E7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000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K6</a:t>
            </a:r>
            <a:endParaRPr lang="zh-TW" altLang="en-US" sz="1000" b="1">
              <a:solidFill>
                <a:srgbClr val="FFFFFF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AD86C461-A65B-8D7C-A436-73EEE18CB206}"/>
              </a:ext>
            </a:extLst>
          </p:cNvPr>
          <p:cNvSpPr/>
          <p:nvPr/>
        </p:nvSpPr>
        <p:spPr>
          <a:xfrm>
            <a:off x="7747000" y="3263900"/>
            <a:ext cx="914400" cy="330200"/>
          </a:xfrm>
          <a:prstGeom prst="roundRect">
            <a:avLst>
              <a:gd name="adj" fmla="val 22000"/>
            </a:avLst>
          </a:prstGeom>
          <a:solidFill>
            <a:srgbClr val="2F78B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000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FastAPI</a:t>
            </a:r>
            <a:endParaRPr lang="zh-TW" altLang="en-US" sz="1000" b="1">
              <a:solidFill>
                <a:srgbClr val="FFFFFF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0ED22CC-41DD-7AC7-E155-2DE7DA3B2998}"/>
              </a:ext>
            </a:extLst>
          </p:cNvPr>
          <p:cNvSpPr/>
          <p:nvPr/>
        </p:nvSpPr>
        <p:spPr>
          <a:xfrm>
            <a:off x="8890000" y="3263900"/>
            <a:ext cx="1168400" cy="330200"/>
          </a:xfrm>
          <a:prstGeom prst="roundRect">
            <a:avLst>
              <a:gd name="adj" fmla="val 22000"/>
            </a:avLst>
          </a:prstGeom>
          <a:solidFill>
            <a:srgbClr val="5A8D3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000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SQLAlchemy</a:t>
            </a:r>
            <a:endParaRPr lang="zh-TW" altLang="en-US" sz="1000" b="1">
              <a:solidFill>
                <a:srgbClr val="FFFFFF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9DBE7D77-B6AB-F65C-79EC-E581E7D5003B}"/>
              </a:ext>
            </a:extLst>
          </p:cNvPr>
          <p:cNvSpPr/>
          <p:nvPr/>
        </p:nvSpPr>
        <p:spPr>
          <a:xfrm>
            <a:off x="10287000" y="3263900"/>
            <a:ext cx="914400" cy="330200"/>
          </a:xfrm>
          <a:prstGeom prst="roundRect">
            <a:avLst>
              <a:gd name="adj" fmla="val 22000"/>
            </a:avLst>
          </a:prstGeom>
          <a:solidFill>
            <a:srgbClr val="D65A1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000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MySQL</a:t>
            </a:r>
            <a:endParaRPr lang="zh-TW" altLang="en-US" sz="1000" b="1">
              <a:solidFill>
                <a:srgbClr val="FFFFFF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848F8412-E206-14CD-D366-3F6BC4C49BD8}"/>
              </a:ext>
            </a:extLst>
          </p:cNvPr>
          <p:cNvCxnSpPr/>
          <p:nvPr/>
        </p:nvCxnSpPr>
        <p:spPr>
          <a:xfrm>
            <a:off x="7569200" y="3429000"/>
            <a:ext cx="127000" cy="0"/>
          </a:xfrm>
          <a:prstGeom prst="line">
            <a:avLst/>
          </a:prstGeom>
          <a:ln w="15240">
            <a:solidFill>
              <a:srgbClr val="7C879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8E8BB16-3D0B-431C-0FA8-49F1FED3E40A}"/>
              </a:ext>
            </a:extLst>
          </p:cNvPr>
          <p:cNvCxnSpPr/>
          <p:nvPr/>
        </p:nvCxnSpPr>
        <p:spPr>
          <a:xfrm>
            <a:off x="8712200" y="3429000"/>
            <a:ext cx="127000" cy="0"/>
          </a:xfrm>
          <a:prstGeom prst="line">
            <a:avLst/>
          </a:prstGeom>
          <a:ln w="15240">
            <a:solidFill>
              <a:srgbClr val="7C879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35A3CD99-1EBD-AFE2-07F2-E38CBD34E5BD}"/>
              </a:ext>
            </a:extLst>
          </p:cNvPr>
          <p:cNvCxnSpPr/>
          <p:nvPr/>
        </p:nvCxnSpPr>
        <p:spPr>
          <a:xfrm>
            <a:off x="10109200" y="3429000"/>
            <a:ext cx="127000" cy="0"/>
          </a:xfrm>
          <a:prstGeom prst="line">
            <a:avLst/>
          </a:prstGeom>
          <a:ln w="15240">
            <a:solidFill>
              <a:srgbClr val="7C879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C67E561-54D0-6A5A-4909-E036EA7E7EFC}"/>
              </a:ext>
            </a:extLst>
          </p:cNvPr>
          <p:cNvSpPr txBox="1"/>
          <p:nvPr/>
        </p:nvSpPr>
        <p:spPr>
          <a:xfrm>
            <a:off x="6604000" y="3937000"/>
            <a:ext cx="4572000" cy="3262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6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高併發模擬：以畢業季「千人瞬間湧入」查詢畢業檢核為場景，找出 </a:t>
            </a:r>
            <a:r>
              <a:rPr lang="en-US" altLang="zh-TW" sz="106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API</a:t>
            </a:r>
            <a:r>
              <a:rPr lang="zh-TW" altLang="en-US" sz="106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、</a:t>
            </a:r>
            <a:r>
              <a:rPr lang="en-US" altLang="zh-TW" sz="106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ORM </a:t>
            </a:r>
            <a:r>
              <a:rPr lang="zh-TW" altLang="en-US" sz="106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與資料庫瓶頸。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D5FE4C5-7B1F-8AD5-3858-59BEBB81E26D}"/>
              </a:ext>
            </a:extLst>
          </p:cNvPr>
          <p:cNvSpPr txBox="1"/>
          <p:nvPr/>
        </p:nvSpPr>
        <p:spPr>
          <a:xfrm>
            <a:off x="6604000" y="4584700"/>
            <a:ext cx="4572000" cy="3262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6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效能評估：產出可讀性高的指標報告，檢測系統並回饋查詢流程與索引設計優化。</a:t>
            </a:r>
          </a:p>
        </p:txBody>
      </p: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AA159F14-7EBC-0E27-15C8-4857F64E7333}"/>
              </a:ext>
            </a:extLst>
          </p:cNvPr>
          <p:cNvCxnSpPr/>
          <p:nvPr/>
        </p:nvCxnSpPr>
        <p:spPr>
          <a:xfrm>
            <a:off x="6604000" y="5486400"/>
            <a:ext cx="4699000" cy="0"/>
          </a:xfrm>
          <a:prstGeom prst="line">
            <a:avLst/>
          </a:prstGeom>
          <a:ln w="10160">
            <a:solidFill>
              <a:srgbClr val="DDE5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5E54C40-6925-8EBA-8863-EF973D4A631A}"/>
              </a:ext>
            </a:extLst>
          </p:cNvPr>
          <p:cNvSpPr txBox="1"/>
          <p:nvPr/>
        </p:nvSpPr>
        <p:spPr>
          <a:xfrm>
            <a:off x="6604000" y="5664200"/>
            <a:ext cx="4572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95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核心定位：提早偵測效能極限，確保尖峰時段穩定回應</a:t>
            </a:r>
          </a:p>
        </p:txBody>
      </p:sp>
    </p:spTree>
    <p:extLst>
      <p:ext uri="{BB962C8B-B14F-4D97-AF65-F5344CB8AC3E}">
        <p14:creationId xmlns:p14="http://schemas.microsoft.com/office/powerpoint/2010/main" val="823013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AD083D9-C5CE-F759-3155-68F94EF8AC99}"/>
              </a:ext>
            </a:extLst>
          </p:cNvPr>
          <p:cNvSpPr txBox="1"/>
          <p:nvPr/>
        </p:nvSpPr>
        <p:spPr>
          <a:xfrm>
            <a:off x="571500" y="469900"/>
            <a:ext cx="7747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2700" b="1">
                <a:solidFill>
                  <a:srgbClr val="1F4E79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資料庫核心 </a:t>
            </a:r>
            <a:r>
              <a:rPr lang="en-US" altLang="zh-TW" sz="2700" b="1">
                <a:solidFill>
                  <a:srgbClr val="1F4E79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ERD</a:t>
            </a:r>
            <a:endParaRPr lang="zh-TW" altLang="en-US" sz="2700" b="1">
              <a:solidFill>
                <a:srgbClr val="1F4E79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D9B4A1F-FF1F-E8A3-C9A8-CA90BBECA2EA}"/>
              </a:ext>
            </a:extLst>
          </p:cNvPr>
          <p:cNvSpPr txBox="1"/>
          <p:nvPr/>
        </p:nvSpPr>
        <p:spPr>
          <a:xfrm>
            <a:off x="584200" y="1003300"/>
            <a:ext cx="8255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25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Entity Relationship Model · </a:t>
            </a:r>
            <a:r>
              <a:rPr lang="zh-TW" altLang="en-US" sz="125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學生修課、課程分類與畢業規則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C9FD2AD-9075-3167-CC86-1849ACE151A2}"/>
              </a:ext>
            </a:extLst>
          </p:cNvPr>
          <p:cNvSpPr txBox="1"/>
          <p:nvPr/>
        </p:nvSpPr>
        <p:spPr>
          <a:xfrm>
            <a:off x="11480800" y="533400"/>
            <a:ext cx="457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TW" sz="1050">
                <a:solidFill>
                  <a:srgbClr val="708090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5 / 10</a:t>
            </a:r>
            <a:endParaRPr lang="zh-TW" altLang="en-US" sz="1050">
              <a:solidFill>
                <a:srgbClr val="708090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AA88EC5E-34AC-D96E-66FD-B15460DE2623}"/>
              </a:ext>
            </a:extLst>
          </p:cNvPr>
          <p:cNvCxnSpPr/>
          <p:nvPr/>
        </p:nvCxnSpPr>
        <p:spPr>
          <a:xfrm>
            <a:off x="0" y="1574800"/>
            <a:ext cx="12192000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B159CF56-CCBC-0C44-C652-2B9CFCA61BEF}"/>
              </a:ext>
            </a:extLst>
          </p:cNvPr>
          <p:cNvSpPr txBox="1"/>
          <p:nvPr/>
        </p:nvSpPr>
        <p:spPr>
          <a:xfrm>
            <a:off x="571500" y="1854200"/>
            <a:ext cx="317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altLang="zh-TW" sz="950" b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D A T A   M O D E L</a:t>
            </a:r>
            <a:endParaRPr lang="zh-TW" altLang="en-US" sz="950" b="1">
              <a:solidFill>
                <a:srgbClr val="7C8794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A1E292-1EDC-A0E0-A353-05327D7603D0}"/>
              </a:ext>
            </a:extLst>
          </p:cNvPr>
          <p:cNvSpPr/>
          <p:nvPr/>
        </p:nvSpPr>
        <p:spPr>
          <a:xfrm>
            <a:off x="571500" y="2171700"/>
            <a:ext cx="7874000" cy="403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F8F26AE-D169-A180-6AC2-B501AD0E981C}"/>
              </a:ext>
            </a:extLst>
          </p:cNvPr>
          <p:cNvSpPr txBox="1"/>
          <p:nvPr/>
        </p:nvSpPr>
        <p:spPr>
          <a:xfrm>
            <a:off x="774700" y="5880100"/>
            <a:ext cx="73025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TW" altLang="en-US" sz="92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核心資料流：</a:t>
            </a:r>
            <a:r>
              <a:rPr lang="en-US" altLang="zh-TW" sz="92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Student → Student_course_record → Course / Course_category_mapping → Graduation_rule</a:t>
            </a:r>
            <a:endParaRPr lang="zh-TW" altLang="en-US" sz="920" i="1">
              <a:solidFill>
                <a:srgbClr val="7C8794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81B40D2-B8D1-8CBA-A0AE-EEA7DC6D0BB4}"/>
              </a:ext>
            </a:extLst>
          </p:cNvPr>
          <p:cNvSpPr txBox="1"/>
          <p:nvPr/>
        </p:nvSpPr>
        <p:spPr>
          <a:xfrm>
            <a:off x="8890000" y="1854200"/>
            <a:ext cx="2349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altLang="zh-TW" sz="950" b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M O D E L   N O T E S</a:t>
            </a:r>
            <a:endParaRPr lang="zh-TW" altLang="en-US" sz="950" b="1">
              <a:solidFill>
                <a:srgbClr val="7C8794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B8E282-AC9B-FEAC-92CE-1918D6CC6BB8}"/>
              </a:ext>
            </a:extLst>
          </p:cNvPr>
          <p:cNvSpPr/>
          <p:nvPr/>
        </p:nvSpPr>
        <p:spPr>
          <a:xfrm>
            <a:off x="8890000" y="2235200"/>
            <a:ext cx="2730500" cy="1092200"/>
          </a:xfrm>
          <a:prstGeom prst="rect">
            <a:avLst/>
          </a:prstGeom>
          <a:solidFill>
            <a:srgbClr val="F8FAFD"/>
          </a:solidFill>
          <a:ln w="1016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68117464-1044-116B-4C31-13BC84D9D61C}"/>
              </a:ext>
            </a:extLst>
          </p:cNvPr>
          <p:cNvSpPr/>
          <p:nvPr/>
        </p:nvSpPr>
        <p:spPr>
          <a:xfrm>
            <a:off x="9093200" y="2463800"/>
            <a:ext cx="508000" cy="304800"/>
          </a:xfrm>
          <a:prstGeom prst="roundRect">
            <a:avLst>
              <a:gd name="adj" fmla="val 22000"/>
            </a:avLst>
          </a:prstGeom>
          <a:solidFill>
            <a:srgbClr val="1F4E7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000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01</a:t>
            </a:r>
            <a:endParaRPr lang="zh-TW" altLang="en-US" sz="1000" b="1">
              <a:solidFill>
                <a:srgbClr val="FFFFFF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EA3229E-E182-02C3-13E1-6327956E3D1F}"/>
              </a:ext>
            </a:extLst>
          </p:cNvPr>
          <p:cNvSpPr txBox="1"/>
          <p:nvPr/>
        </p:nvSpPr>
        <p:spPr>
          <a:xfrm>
            <a:off x="9728200" y="2413000"/>
            <a:ext cx="167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100" b="1">
                <a:solidFill>
                  <a:srgbClr val="1F4E79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修課紀錄為事實表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B847C32-0FA1-5D14-DD36-7A3C8828DB94}"/>
              </a:ext>
            </a:extLst>
          </p:cNvPr>
          <p:cNvSpPr txBox="1"/>
          <p:nvPr/>
        </p:nvSpPr>
        <p:spPr>
          <a:xfrm>
            <a:off x="9093200" y="2832100"/>
            <a:ext cx="2286000" cy="2893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94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保存 </a:t>
            </a:r>
            <a:r>
              <a:rPr lang="en-US" altLang="zh-TW" sz="94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semester</a:t>
            </a:r>
            <a:r>
              <a:rPr lang="zh-TW" altLang="en-US" sz="94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、</a:t>
            </a:r>
            <a:r>
              <a:rPr lang="en-US" altLang="zh-TW" sz="94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grade</a:t>
            </a:r>
            <a:r>
              <a:rPr lang="zh-TW" altLang="en-US" sz="94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、</a:t>
            </a:r>
            <a:r>
              <a:rPr lang="en-US" altLang="zh-TW" sz="940" dirty="0" err="1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is_passed</a:t>
            </a:r>
            <a:r>
              <a:rPr lang="zh-TW" altLang="en-US" sz="94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，支撐即時畢業條件判定。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DE3AE9-1BEA-C01C-34EE-57644485264D}"/>
              </a:ext>
            </a:extLst>
          </p:cNvPr>
          <p:cNvSpPr/>
          <p:nvPr/>
        </p:nvSpPr>
        <p:spPr>
          <a:xfrm>
            <a:off x="8890000" y="3581400"/>
            <a:ext cx="2730500" cy="1092200"/>
          </a:xfrm>
          <a:prstGeom prst="rect">
            <a:avLst/>
          </a:prstGeom>
          <a:solidFill>
            <a:srgbClr val="F8FAFD"/>
          </a:solidFill>
          <a:ln w="1016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65DCE88D-E5D8-6E3E-BC09-D2FC0D3F285E}"/>
              </a:ext>
            </a:extLst>
          </p:cNvPr>
          <p:cNvSpPr/>
          <p:nvPr/>
        </p:nvSpPr>
        <p:spPr>
          <a:xfrm>
            <a:off x="9093200" y="3810000"/>
            <a:ext cx="508000" cy="304800"/>
          </a:xfrm>
          <a:prstGeom prst="roundRect">
            <a:avLst>
              <a:gd name="adj" fmla="val 22000"/>
            </a:avLst>
          </a:prstGeom>
          <a:solidFill>
            <a:srgbClr val="C995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000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02</a:t>
            </a:r>
            <a:endParaRPr lang="zh-TW" altLang="en-US" sz="1000" b="1">
              <a:solidFill>
                <a:srgbClr val="FFFFFF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D138402-3B11-7270-833A-DC34124E1DD1}"/>
              </a:ext>
            </a:extLst>
          </p:cNvPr>
          <p:cNvSpPr txBox="1"/>
          <p:nvPr/>
        </p:nvSpPr>
        <p:spPr>
          <a:xfrm>
            <a:off x="9728200" y="3759200"/>
            <a:ext cx="167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100" b="1">
                <a:solidFill>
                  <a:srgbClr val="1F4E79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課程分類採 </a:t>
            </a:r>
            <a:r>
              <a:rPr lang="en-US" altLang="zh-TW" sz="1100" b="1">
                <a:solidFill>
                  <a:srgbClr val="1F4E79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N:M</a:t>
            </a:r>
            <a:endParaRPr lang="zh-TW" altLang="en-US" sz="1100" b="1">
              <a:solidFill>
                <a:srgbClr val="1F4E79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7E8413A-0E66-7E85-9B00-F936641EFF49}"/>
              </a:ext>
            </a:extLst>
          </p:cNvPr>
          <p:cNvSpPr txBox="1"/>
          <p:nvPr/>
        </p:nvSpPr>
        <p:spPr>
          <a:xfrm>
            <a:off x="9093200" y="4178300"/>
            <a:ext cx="2286000" cy="2893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94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Course_category_mapping </a:t>
            </a:r>
            <a:r>
              <a:rPr lang="zh-TW" altLang="en-US" sz="94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讓一門課可對應多個 </a:t>
            </a:r>
            <a:r>
              <a:rPr lang="en-US" altLang="zh-TW" sz="94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main_type / sub_type</a:t>
            </a:r>
            <a:r>
              <a:rPr lang="zh-TW" altLang="en-US" sz="94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EA10636-3424-F6D2-3CD4-BB1D220CF99E}"/>
              </a:ext>
            </a:extLst>
          </p:cNvPr>
          <p:cNvSpPr/>
          <p:nvPr/>
        </p:nvSpPr>
        <p:spPr>
          <a:xfrm>
            <a:off x="8890000" y="4927600"/>
            <a:ext cx="2730500" cy="1092200"/>
          </a:xfrm>
          <a:prstGeom prst="rect">
            <a:avLst/>
          </a:prstGeom>
          <a:solidFill>
            <a:srgbClr val="F8FAFD"/>
          </a:solidFill>
          <a:ln w="1016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D1EFD56D-6A89-B734-9A41-B35794DB98FA}"/>
              </a:ext>
            </a:extLst>
          </p:cNvPr>
          <p:cNvSpPr/>
          <p:nvPr/>
        </p:nvSpPr>
        <p:spPr>
          <a:xfrm>
            <a:off x="9093200" y="5156200"/>
            <a:ext cx="508000" cy="304800"/>
          </a:xfrm>
          <a:prstGeom prst="roundRect">
            <a:avLst>
              <a:gd name="adj" fmla="val 22000"/>
            </a:avLst>
          </a:prstGeom>
          <a:solidFill>
            <a:srgbClr val="5A8D3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000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03</a:t>
            </a:r>
            <a:endParaRPr lang="zh-TW" altLang="en-US" sz="1000" b="1">
              <a:solidFill>
                <a:srgbClr val="FFFFFF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BB51920-A847-0A85-10F2-6F9712857AAA}"/>
              </a:ext>
            </a:extLst>
          </p:cNvPr>
          <p:cNvSpPr txBox="1"/>
          <p:nvPr/>
        </p:nvSpPr>
        <p:spPr>
          <a:xfrm>
            <a:off x="9728200" y="5105400"/>
            <a:ext cx="167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100" b="1">
                <a:solidFill>
                  <a:srgbClr val="1F4E79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規則依年度版本化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4D02FE5-C1C2-FBD7-0DF3-BB6BABB454EB}"/>
              </a:ext>
            </a:extLst>
          </p:cNvPr>
          <p:cNvSpPr txBox="1"/>
          <p:nvPr/>
        </p:nvSpPr>
        <p:spPr>
          <a:xfrm>
            <a:off x="9093200" y="5524500"/>
            <a:ext cx="2286000" cy="2893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94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graduation_rule </a:t>
            </a:r>
            <a:r>
              <a:rPr lang="zh-TW" altLang="en-US" sz="94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以 </a:t>
            </a:r>
            <a:r>
              <a:rPr lang="en-US" altLang="zh-TW" sz="94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admission_year </a:t>
            </a:r>
            <a:r>
              <a:rPr lang="zh-TW" altLang="en-US" sz="94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連結分類門檻，降低新舊制混淆。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4F24FDA-4C27-51A1-25B5-568560B88335}"/>
              </a:ext>
            </a:extLst>
          </p:cNvPr>
          <p:cNvSpPr txBox="1"/>
          <p:nvPr/>
        </p:nvSpPr>
        <p:spPr>
          <a:xfrm>
            <a:off x="571500" y="6362700"/>
            <a:ext cx="78740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870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資料表命名沿用原圖；後續實作可再依 </a:t>
            </a:r>
            <a:r>
              <a:rPr lang="en-US" altLang="zh-TW" sz="870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SQL </a:t>
            </a:r>
            <a:r>
              <a:rPr lang="zh-TW" altLang="en-US" sz="870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命名規範統一大小寫與複數格式。</a:t>
            </a:r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5600EB08-881A-5FC2-5482-B30AA544B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636" y="2177771"/>
            <a:ext cx="6854628" cy="400105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2E07025-0FE0-97B4-8CDE-E23DA085F07A}"/>
              </a:ext>
            </a:extLst>
          </p:cNvPr>
          <p:cNvSpPr/>
          <p:nvPr/>
        </p:nvSpPr>
        <p:spPr>
          <a:xfrm>
            <a:off x="571500" y="1841500"/>
            <a:ext cx="11049000" cy="46355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615516C-8189-E85A-FA20-8893BB4FAC8E}"/>
              </a:ext>
            </a:extLst>
          </p:cNvPr>
          <p:cNvSpPr txBox="1"/>
          <p:nvPr/>
        </p:nvSpPr>
        <p:spPr>
          <a:xfrm>
            <a:off x="571500" y="1866900"/>
            <a:ext cx="2667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altLang="zh-TW" sz="900" b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D A T A   M O D E L</a:t>
            </a:r>
            <a:endParaRPr lang="zh-TW" altLang="en-US" sz="900" b="1">
              <a:solidFill>
                <a:srgbClr val="7C8794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7E4E58E-C886-C941-8459-FE7AB2179F86}"/>
              </a:ext>
            </a:extLst>
          </p:cNvPr>
          <p:cNvSpPr/>
          <p:nvPr/>
        </p:nvSpPr>
        <p:spPr>
          <a:xfrm>
            <a:off x="571500" y="2184400"/>
            <a:ext cx="11049000" cy="403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13808FF2-781C-BD38-E147-B95145328E5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2362200"/>
            <a:ext cx="10795000" cy="4203700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157926C8-42AB-9A92-E2CA-3284C89A1D0B}"/>
              </a:ext>
            </a:extLst>
          </p:cNvPr>
          <p:cNvSpPr txBox="1"/>
          <p:nvPr/>
        </p:nvSpPr>
        <p:spPr>
          <a:xfrm>
            <a:off x="787400" y="6362700"/>
            <a:ext cx="10541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TW" altLang="en-US" sz="80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設計重點：</a:t>
            </a:r>
            <a:r>
              <a:rPr lang="en-US" altLang="zh-TW" sz="80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Student_course_record </a:t>
            </a:r>
            <a:r>
              <a:rPr lang="zh-TW" altLang="en-US" sz="80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與 </a:t>
            </a:r>
            <a:r>
              <a:rPr lang="en-US" altLang="zh-TW" sz="80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Course_category_mapping </a:t>
            </a:r>
            <a:r>
              <a:rPr lang="zh-TW" altLang="en-US" sz="80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分別解決兩組 </a:t>
            </a:r>
            <a:r>
              <a:rPr lang="en-US" altLang="zh-TW" sz="80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N:M</a:t>
            </a:r>
            <a:r>
              <a:rPr lang="zh-TW" altLang="en-US" sz="80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；</a:t>
            </a:r>
            <a:r>
              <a:rPr lang="en-US" altLang="zh-TW" sz="80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Required_course </a:t>
            </a:r>
            <a:r>
              <a:rPr lang="zh-TW" altLang="en-US" sz="80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支援指定必修；</a:t>
            </a:r>
            <a:r>
              <a:rPr lang="en-US" altLang="zh-TW" sz="80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graduation_rule </a:t>
            </a:r>
            <a:r>
              <a:rPr lang="zh-TW" altLang="en-US" sz="80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管分類學分</a:t>
            </a:r>
            <a:r>
              <a:rPr lang="en-US" altLang="zh-TW" sz="80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/</a:t>
            </a:r>
            <a:r>
              <a:rPr lang="zh-TW" altLang="en-US" sz="80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門數門檻。</a:t>
            </a:r>
          </a:p>
        </p:txBody>
      </p:sp>
    </p:spTree>
    <p:extLst>
      <p:ext uri="{BB962C8B-B14F-4D97-AF65-F5344CB8AC3E}">
        <p14:creationId xmlns:p14="http://schemas.microsoft.com/office/powerpoint/2010/main" val="3858462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959</Words>
  <Application>Microsoft Office PowerPoint</Application>
  <PresentationFormat>寬螢幕</PresentationFormat>
  <Paragraphs>216</Paragraphs>
  <Slides>5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Microsoft JhengHei</vt:lpstr>
      <vt:lpstr>Aptos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和 周</cp:lastModifiedBy>
  <cp:revision>3</cp:revision>
  <dcterms:modified xsi:type="dcterms:W3CDTF">2026-05-21T08:05:28Z</dcterms:modified>
</cp:coreProperties>
</file>